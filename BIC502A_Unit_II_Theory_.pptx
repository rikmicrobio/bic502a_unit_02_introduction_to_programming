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jpeg" ContentType="image/jpeg"/>
  <Override PartName="/ppt/media/image4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5433E47-712E-4FFE-B3EA-4BF5000247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4AB4F3A-157C-4056-B8C7-677D1EBD4E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2CB510F-E634-41CB-B64B-504B391113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B76D526-74E3-47DB-9977-34139B8963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FF095C9-C7A8-4060-B4B2-EC25FFFB35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8E3BDA1-27BB-4AAA-B163-FAD81888183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BB85FCA-7240-485B-8C98-DEB4467AB3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766D2DB6-6697-4BE9-94FB-302FC0ABBD9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2DB63C2-E3BA-418B-8731-B80599E802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25F66E8-61E6-468B-9014-9618316A0E2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252068B0-94BF-4AC4-9A7E-AA48E400CFA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CC04F11-BB20-4446-A717-8ABDF169C6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B2DC4C-753F-4689-9322-8CB71F357F1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D8A9053-4270-418C-91E6-26624F404E7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FDD497E-BCB2-46BE-837A-ACD621AAD5A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4DE0B6-6C18-4F92-B43F-5D162F8C405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CEF93F-B6C1-40F2-BA86-22EDAD0C081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407D70-387D-4601-B90D-09946E28D6D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241D63-A2AE-4650-B541-D098131D1FF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941E253-F2D3-4570-AEA3-C3CBC3102F9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E6405E-3754-42E7-AD0F-EA9EABC40FB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7B90534-6301-489F-BED4-8F627DCE997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4EE102-3030-4BAD-8B5E-D7122C8DAB5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ftr" idx="34"/>
          </p:nvPr>
        </p:nvSpPr>
        <p:spPr>
          <a:xfrm>
            <a:off x="4145040" y="6378120"/>
            <a:ext cx="3900600" cy="34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sldNum" idx="35"/>
          </p:nvPr>
        </p:nvSpPr>
        <p:spPr>
          <a:xfrm>
            <a:off x="11081880" y="6532920"/>
            <a:ext cx="205560" cy="17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102960" indent="0" defTabSz="914400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chemeClr val="lt1"/>
                </a:solidFill>
                <a:latin typeface="Calibri"/>
              </a:defRPr>
            </a:lvl1pPr>
          </a:lstStyle>
          <a:p>
            <a:pPr marL="102960"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F28204DE-FE3A-43AC-B698-A94AA3442132}" type="slidenum">
              <a:rPr b="0" lang="de-DE" sz="1200" spc="-1" strike="noStrike">
                <a:solidFill>
                  <a:schemeClr val="lt1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dt" idx="36"/>
          </p:nvPr>
        </p:nvSpPr>
        <p:spPr>
          <a:xfrm>
            <a:off x="60912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hyperlink" Target="mailto:rikganguly.bt.fns@msruas.ac.in" TargetMode="External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object 2"/>
          <p:cNvSpPr/>
          <p:nvPr/>
        </p:nvSpPr>
        <p:spPr>
          <a:xfrm>
            <a:off x="9221400" y="134280"/>
            <a:ext cx="2818800" cy="89244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de-D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" name="object 3"/>
          <p:cNvSpPr/>
          <p:nvPr/>
        </p:nvSpPr>
        <p:spPr>
          <a:xfrm>
            <a:off x="10983240" y="6356520"/>
            <a:ext cx="370080" cy="500760"/>
          </a:xfrm>
          <a:custGeom>
            <a:avLst/>
            <a:gdLst>
              <a:gd name="textAreaLeft" fmla="*/ 0 w 370080"/>
              <a:gd name="textAreaRight" fmla="*/ 370800 w 370080"/>
              <a:gd name="textAreaTop" fmla="*/ 0 h 500760"/>
              <a:gd name="textAreaBottom" fmla="*/ 501480 h 500760"/>
            </a:gdLst>
            <a:ahLst/>
            <a:rect l="textAreaLeft" t="textAreaTop" r="textAreaRight" b="textAreaBottom"/>
            <a:pathLst>
              <a:path w="370840" h="501650">
                <a:moveTo>
                  <a:pt x="0" y="501395"/>
                </a:moveTo>
                <a:lnTo>
                  <a:pt x="370331" y="501395"/>
                </a:lnTo>
                <a:lnTo>
                  <a:pt x="370331" y="0"/>
                </a:lnTo>
                <a:lnTo>
                  <a:pt x="0" y="0"/>
                </a:lnTo>
                <a:lnTo>
                  <a:pt x="0" y="501395"/>
                </a:lnTo>
                <a:close/>
              </a:path>
            </a:pathLst>
          </a:custGeom>
          <a:solidFill>
            <a:srgbClr val="9c1d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de-D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" name="object 4"/>
          <p:cNvSpPr/>
          <p:nvPr/>
        </p:nvSpPr>
        <p:spPr>
          <a:xfrm>
            <a:off x="360" y="0"/>
            <a:ext cx="1219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de-DE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object 5"/>
          <p:cNvSpPr/>
          <p:nvPr/>
        </p:nvSpPr>
        <p:spPr>
          <a:xfrm>
            <a:off x="360" y="0"/>
            <a:ext cx="12191040" cy="68572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de-D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object 7"/>
          <p:cNvSpPr/>
          <p:nvPr/>
        </p:nvSpPr>
        <p:spPr>
          <a:xfrm>
            <a:off x="685440" y="1447920"/>
            <a:ext cx="11200320" cy="91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611"/>
              </a:lnSpc>
            </a:pPr>
            <a:r>
              <a:rPr b="1" lang="en-IN" sz="3600" spc="-1" strike="noStrike">
                <a:solidFill>
                  <a:schemeClr val="dk1"/>
                </a:solidFill>
                <a:latin typeface="Calibri"/>
              </a:rPr>
              <a:t>Course Code: BIC502A</a:t>
            </a:r>
            <a:br>
              <a:rPr sz="3600"/>
            </a:br>
            <a:r>
              <a:rPr b="1" lang="en-IN" sz="3600" spc="-1" strike="noStrike">
                <a:solidFill>
                  <a:schemeClr val="dk1"/>
                </a:solidFill>
                <a:latin typeface="Calibri"/>
              </a:rPr>
              <a:t>Course Title: Introduction to Programming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object 8"/>
          <p:cNvSpPr/>
          <p:nvPr/>
        </p:nvSpPr>
        <p:spPr>
          <a:xfrm>
            <a:off x="3276360" y="2514600"/>
            <a:ext cx="5485680" cy="257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de-DE" sz="3600" spc="-35" strike="noStrike">
                <a:solidFill>
                  <a:schemeClr val="dk1"/>
                </a:solidFill>
                <a:latin typeface="Calibri"/>
              </a:rPr>
              <a:t>Unit-II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4"/>
              </a:spcBef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Rik Ganguly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Department of Biotechnology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Faculty of Natural Sciences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1" lang="en-US" sz="1800" spc="-1" strike="noStrike">
                <a:solidFill>
                  <a:schemeClr val="dk1"/>
                </a:solidFill>
                <a:latin typeface="Calibri"/>
                <a:hlinkClick r:id="rId3"/>
              </a:rPr>
              <a:t>rikganguly.bt.fns@msruas.ac.in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" name="Picture 2" descr=""/>
          <p:cNvPicPr/>
          <p:nvPr/>
        </p:nvPicPr>
        <p:blipFill>
          <a:blip r:embed="rId4"/>
          <a:stretch/>
        </p:blipFill>
        <p:spPr>
          <a:xfrm>
            <a:off x="9221400" y="767880"/>
            <a:ext cx="938160" cy="938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82" name="TextBox 2"/>
          <p:cNvSpPr/>
          <p:nvPr/>
        </p:nvSpPr>
        <p:spPr>
          <a:xfrm>
            <a:off x="4552200" y="255960"/>
            <a:ext cx="770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vim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powerful terminal-based text editor used to create and modify text files.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vim notes.txt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89" name="TextBox 2"/>
          <p:cNvSpPr/>
          <p:nvPr/>
        </p:nvSpPr>
        <p:spPr>
          <a:xfrm>
            <a:off x="4437720" y="255960"/>
            <a:ext cx="999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nano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simple terminal-based text editor designed to be easy for beginners.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nano notes.txt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96" name="TextBox 2"/>
          <p:cNvSpPr/>
          <p:nvPr/>
        </p:nvSpPr>
        <p:spPr>
          <a:xfrm>
            <a:off x="4437720" y="255960"/>
            <a:ext cx="999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gedit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graphical text editor used to create and edit text files.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gedit notes.txt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03" name="TextBox 2"/>
          <p:cNvSpPr/>
          <p:nvPr/>
        </p:nvSpPr>
        <p:spPr>
          <a:xfrm>
            <a:off x="4599360" y="255960"/>
            <a:ext cx="676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cat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4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displays the contents of a text file in the terminal.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cat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10" name="TextBox 2"/>
          <p:cNvSpPr/>
          <p:nvPr/>
        </p:nvSpPr>
        <p:spPr>
          <a:xfrm>
            <a:off x="4514040" y="255960"/>
            <a:ext cx="847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less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5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lets you view a text file one screen at a time.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less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17" name="TextBox 2"/>
          <p:cNvSpPr/>
          <p:nvPr/>
        </p:nvSpPr>
        <p:spPr>
          <a:xfrm>
            <a:off x="4428000" y="255960"/>
            <a:ext cx="1019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more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displays a text file page by page.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more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24" name="TextBox 2"/>
          <p:cNvSpPr/>
          <p:nvPr/>
        </p:nvSpPr>
        <p:spPr>
          <a:xfrm>
            <a:off x="4446720" y="255960"/>
            <a:ext cx="981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head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7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displays the beginning of a file.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head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31" name="TextBox 2"/>
          <p:cNvSpPr/>
          <p:nvPr/>
        </p:nvSpPr>
        <p:spPr>
          <a:xfrm>
            <a:off x="4599360" y="255960"/>
            <a:ext cx="676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tail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8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displays the end of a file.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tail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38" name="TextBox 2"/>
          <p:cNvSpPr/>
          <p:nvPr/>
        </p:nvSpPr>
        <p:spPr>
          <a:xfrm>
            <a:off x="4533120" y="255960"/>
            <a:ext cx="8089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fold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9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wraps long lines at a specified width for display.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fold -w 50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45" name="TextBox 2"/>
          <p:cNvSpPr/>
          <p:nvPr/>
        </p:nvSpPr>
        <p:spPr>
          <a:xfrm>
            <a:off x="4475880" y="255960"/>
            <a:ext cx="9234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grep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searches for a pattern and displays the matching lines.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grep "KINASE"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52" name="TextBox 2"/>
          <p:cNvSpPr/>
          <p:nvPr/>
        </p:nvSpPr>
        <p:spPr>
          <a:xfrm>
            <a:off x="4380480" y="255960"/>
            <a:ext cx="11138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egrep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searches for patterns using extended regular expressions.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egrep "KINASE|ENZYME"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59" name="TextBox 2"/>
          <p:cNvSpPr/>
          <p:nvPr/>
        </p:nvSpPr>
        <p:spPr>
          <a:xfrm>
            <a:off x="4590000" y="255960"/>
            <a:ext cx="694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cut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extracts selected fields or parts of lines.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cut -d'|' -f2 protein_headers.txt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66" name="TextBox 2"/>
          <p:cNvSpPr/>
          <p:nvPr/>
        </p:nvSpPr>
        <p:spPr>
          <a:xfrm>
            <a:off x="4399560" y="255960"/>
            <a:ext cx="10756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paste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command that joins lines from two or more files side by side.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paste file1.txt file2.txt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73" name="TextBox 2"/>
          <p:cNvSpPr/>
          <p:nvPr/>
        </p:nvSpPr>
        <p:spPr>
          <a:xfrm>
            <a:off x="4552200" y="255960"/>
            <a:ext cx="770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sed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14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stream editor used to search and transform text.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sed 's/KINASE/PROTEIN_KINASE/g'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80" name="TextBox 2"/>
          <p:cNvSpPr/>
          <p:nvPr/>
        </p:nvSpPr>
        <p:spPr>
          <a:xfrm>
            <a:off x="4523040" y="255960"/>
            <a:ext cx="82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awk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15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text-processing tool used to select fields and perform simple calculations.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awk '/^&gt;/{print $0}'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87" name="TextBox 2"/>
          <p:cNvSpPr/>
          <p:nvPr/>
        </p:nvSpPr>
        <p:spPr>
          <a:xfrm>
            <a:off x="4799880" y="255960"/>
            <a:ext cx="2754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|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Box 5"/>
          <p:cNvSpPr/>
          <p:nvPr/>
        </p:nvSpPr>
        <p:spPr>
          <a:xfrm>
            <a:off x="960120" y="1783080"/>
            <a:ext cx="1010376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shell operator that sends the output of one command directly into another command.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grep "^&gt;" proteins.fasta | wc -l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194" name="TextBox 2"/>
          <p:cNvSpPr/>
          <p:nvPr/>
        </p:nvSpPr>
        <p:spPr>
          <a:xfrm>
            <a:off x="4746960" y="255960"/>
            <a:ext cx="3808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17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Box 5"/>
          <p:cNvSpPr/>
          <p:nvPr/>
        </p:nvSpPr>
        <p:spPr>
          <a:xfrm>
            <a:off x="960120" y="1783080"/>
            <a:ext cx="1010376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redirection operator that writes command output to a file, replacing existing contents.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grep "^&gt;" proteins.fasta &gt; protein_headers.txt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201" name="TextBox 2"/>
          <p:cNvSpPr/>
          <p:nvPr/>
        </p:nvSpPr>
        <p:spPr>
          <a:xfrm>
            <a:off x="4647240" y="255960"/>
            <a:ext cx="58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&gt;&gt;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18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redirection operator that appends command output to the end of a file.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grep "KINASE" proteins.fasta &gt;&gt; protein_headers.txt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1" descr="100000010000023B000000B58627C003.png"/>
          <p:cNvPicPr/>
          <p:nvPr/>
        </p:nvPicPr>
        <p:blipFill>
          <a:blip r:embed="rId1"/>
          <a:stretch/>
        </p:blipFill>
        <p:spPr>
          <a:xfrm>
            <a:off x="9189720" y="137160"/>
            <a:ext cx="2514240" cy="796680"/>
          </a:xfrm>
          <a:prstGeom prst="rect">
            <a:avLst/>
          </a:prstGeom>
          <a:ln w="0">
            <a:noFill/>
          </a:ln>
        </p:spPr>
      </p:pic>
      <p:sp>
        <p:nvSpPr>
          <p:cNvPr id="208" name="TextBox 2"/>
          <p:cNvSpPr/>
          <p:nvPr/>
        </p:nvSpPr>
        <p:spPr>
          <a:xfrm>
            <a:off x="4428000" y="255960"/>
            <a:ext cx="1019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000000"/>
                </a:solidFill>
                <a:latin typeface="Arial"/>
              </a:rPr>
              <a:t>Bash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ectangle 3"/>
          <p:cNvSpPr/>
          <p:nvPr/>
        </p:nvSpPr>
        <p:spPr>
          <a:xfrm>
            <a:off x="841320" y="1225440"/>
            <a:ext cx="10560960" cy="3168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Rectangle 4"/>
          <p:cNvSpPr/>
          <p:nvPr/>
        </p:nvSpPr>
        <p:spPr>
          <a:xfrm>
            <a:off x="10927080" y="6355080"/>
            <a:ext cx="383760" cy="383760"/>
          </a:xfrm>
          <a:prstGeom prst="rect">
            <a:avLst/>
          </a:prstGeom>
          <a:solidFill>
            <a:srgbClr val="9618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19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5"/>
          <p:cNvSpPr/>
          <p:nvPr/>
        </p:nvSpPr>
        <p:spPr>
          <a:xfrm>
            <a:off x="960120" y="1783080"/>
            <a:ext cx="1010376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300" spc="-1" strike="noStrike">
                <a:solidFill>
                  <a:srgbClr val="5f5f5f"/>
                </a:solidFill>
                <a:latin typeface="Arial"/>
              </a:rPr>
              <a:t>A Unix/Linux shell that interprets commands and can execute shell scripts.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6"/>
          <p:cNvSpPr/>
          <p:nvPr/>
        </p:nvSpPr>
        <p:spPr>
          <a:xfrm>
            <a:off x="960120" y="3154680"/>
            <a:ext cx="1828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f5f5f"/>
                </a:solidFill>
                <a:latin typeface="Arial"/>
              </a:rPr>
              <a:t>Example: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Rounded Rectangle 7"/>
          <p:cNvSpPr/>
          <p:nvPr/>
        </p:nvSpPr>
        <p:spPr>
          <a:xfrm>
            <a:off x="960120" y="3703320"/>
            <a:ext cx="9920880" cy="10512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dcdcd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rIns="2286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2100" spc="-1" strike="noStrike">
                <a:solidFill>
                  <a:srgbClr val="232d37"/>
                </a:solidFill>
                <a:latin typeface="Courier New"/>
              </a:rPr>
              <a:t>bash fasta_summary.sh proteins.fasta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2026-09-03T00:00:09Z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