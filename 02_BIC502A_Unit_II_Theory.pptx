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jpeg" ContentType="image/jpeg"/>
  <Override PartName="/ppt/media/image4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CE1DDAE-4B30-4FEE-95AE-3C807477F6B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CAA1196-A4C7-4F14-A74C-6A5E6C4809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E00BA7B-5BB1-450B-AAA9-79AFD7DA4E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12B0065-F693-47BB-8C91-7FAA159115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0E95EB8-AC5A-4576-92CE-1D20789CE6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DD4D926-4C3B-423D-AD4E-502F78F79C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4BE080D4-4F45-4C9B-8022-5A1D2CCB0B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D0B3E1EE-5176-48B1-9883-D8BF2FD823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78AF5E0-2054-48CA-AE9F-6DDD285EBB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2904A92C-1A3C-425F-A3F5-90B39D899E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5A43C3E0-12D2-4B6D-AF49-9D7D3E03CE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6F823FE7-2080-45A6-887B-D565095915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1E10ADB-2F8B-4665-80F1-EECB0368576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2447960-EA31-4883-942F-18B77DEBA83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585ED52-14F3-4B33-8917-943CEDCBF74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AC1FDB0-130E-41B1-81FD-16C6047A9F4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7CF6C85-1443-4AE1-A582-F4F74536C4D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FA8C4E2-22A9-4999-A7B1-46CD6C015F5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E9AA0B8-99EF-4AC2-AE86-119B2E65496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C9D3240-545E-402E-A8F7-10824219823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336F4C0-50DA-4B30-BDA6-15E7A3A7C06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6CDE147-0EB0-4D7F-B8C9-D2DC68E1F7F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4546109-89B4-47CD-94CB-96F6E921E42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34"/>
          </p:nvPr>
        </p:nvSpPr>
        <p:spPr>
          <a:xfrm>
            <a:off x="4145040" y="6378120"/>
            <a:ext cx="3899880" cy="34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5"/>
          </p:nvPr>
        </p:nvSpPr>
        <p:spPr>
          <a:xfrm>
            <a:off x="11081880" y="6532920"/>
            <a:ext cx="204840" cy="17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02960"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marL="102960"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5216E328-B633-4BAD-B985-F8FE87D2311F}" type="slidenum">
              <a:rPr b="0" lang="de-DE" sz="1200" spc="-1" strike="noStrike">
                <a:solidFill>
                  <a:schemeClr val="lt1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dt" idx="36"/>
          </p:nvPr>
        </p:nvSpPr>
        <p:spPr>
          <a:xfrm>
            <a:off x="609120" y="6378120"/>
            <a:ext cx="2802600" cy="34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hyperlink" Target="mailto:rikganguly.bt.fns@msruas.ac.in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object 2"/>
          <p:cNvSpPr/>
          <p:nvPr/>
        </p:nvSpPr>
        <p:spPr>
          <a:xfrm>
            <a:off x="9221400" y="134280"/>
            <a:ext cx="2818080" cy="8917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object 3"/>
          <p:cNvSpPr/>
          <p:nvPr/>
        </p:nvSpPr>
        <p:spPr>
          <a:xfrm>
            <a:off x="10983240" y="6356520"/>
            <a:ext cx="369360" cy="500040"/>
          </a:xfrm>
          <a:custGeom>
            <a:avLst/>
            <a:gdLst>
              <a:gd name="textAreaLeft" fmla="*/ 0 w 369360"/>
              <a:gd name="textAreaRight" fmla="*/ 370800 w 369360"/>
              <a:gd name="textAreaTop" fmla="*/ 0 h 500040"/>
              <a:gd name="textAreaBottom" fmla="*/ 501480 h 500040"/>
            </a:gdLst>
            <a:ahLst/>
            <a:rect l="textAreaLeft" t="textAreaTop" r="textAreaRight" b="textAreaBottom"/>
            <a:pathLst>
              <a:path w="370840" h="501650">
                <a:moveTo>
                  <a:pt x="0" y="501395"/>
                </a:moveTo>
                <a:lnTo>
                  <a:pt x="370331" y="501395"/>
                </a:lnTo>
                <a:lnTo>
                  <a:pt x="370331" y="0"/>
                </a:lnTo>
                <a:lnTo>
                  <a:pt x="0" y="0"/>
                </a:lnTo>
                <a:lnTo>
                  <a:pt x="0" y="501395"/>
                </a:lnTo>
                <a:close/>
              </a:path>
            </a:pathLst>
          </a:custGeom>
          <a:solidFill>
            <a:srgbClr val="9c1d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object 4"/>
          <p:cNvSpPr/>
          <p:nvPr/>
        </p:nvSpPr>
        <p:spPr>
          <a:xfrm>
            <a:off x="360" y="0"/>
            <a:ext cx="12190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de-DE" sz="12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object 5"/>
          <p:cNvSpPr/>
          <p:nvPr/>
        </p:nvSpPr>
        <p:spPr>
          <a:xfrm>
            <a:off x="360" y="0"/>
            <a:ext cx="12190320" cy="68565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object 7"/>
          <p:cNvSpPr/>
          <p:nvPr/>
        </p:nvSpPr>
        <p:spPr>
          <a:xfrm>
            <a:off x="685440" y="1447920"/>
            <a:ext cx="1119960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611"/>
              </a:lnSpc>
            </a:pPr>
            <a:r>
              <a:rPr b="1" lang="en-IN" sz="3600" spc="-1" strike="noStrike">
                <a:solidFill>
                  <a:schemeClr val="dk1"/>
                </a:solidFill>
                <a:latin typeface="Calibri"/>
              </a:rPr>
              <a:t>Course Code: BIC502A</a:t>
            </a:r>
            <a:br>
              <a:rPr sz="3600"/>
            </a:br>
            <a:r>
              <a:rPr b="1" lang="en-IN" sz="3600" spc="-1" strike="noStrike">
                <a:solidFill>
                  <a:schemeClr val="dk1"/>
                </a:solidFill>
                <a:latin typeface="Calibri"/>
              </a:rPr>
              <a:t>Course Title: Introduction to Programming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object 8"/>
          <p:cNvSpPr/>
          <p:nvPr/>
        </p:nvSpPr>
        <p:spPr>
          <a:xfrm>
            <a:off x="3276360" y="2514600"/>
            <a:ext cx="5484960" cy="257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de-DE" sz="3600" spc="-35" strike="noStrike">
                <a:solidFill>
                  <a:schemeClr val="dk1"/>
                </a:solidFill>
                <a:latin typeface="Calibri"/>
              </a:rPr>
              <a:t>Unit-II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4"/>
              </a:spcBef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Rik Ganguly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Department of Biotechnology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Faculty of Natural Sciences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1" lang="en-US" sz="1800" spc="-1" strike="noStrike" u="sng">
                <a:solidFill>
                  <a:schemeClr val="dk1"/>
                </a:solidFill>
                <a:uFillTx/>
                <a:latin typeface="Calibri"/>
                <a:hlinkClick r:id="rId3"/>
              </a:rPr>
              <a:t>rikganguly.bt.fns@msruas.ac.in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Picture 2" descr=""/>
          <p:cNvPicPr/>
          <p:nvPr/>
        </p:nvPicPr>
        <p:blipFill>
          <a:blip r:embed="rId4"/>
          <a:stretch/>
        </p:blipFill>
        <p:spPr>
          <a:xfrm>
            <a:off x="9221400" y="767880"/>
            <a:ext cx="937440" cy="937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 descr="image.png"/>
          <p:cNvPicPr/>
          <p:nvPr/>
        </p:nvPicPr>
        <p:blipFill>
          <a:blip r:embed="rId1"/>
          <a:stretch/>
        </p:blipFill>
        <p:spPr>
          <a:xfrm>
            <a:off x="9169920" y="137160"/>
            <a:ext cx="2513880" cy="796320"/>
          </a:xfrm>
          <a:prstGeom prst="rect">
            <a:avLst/>
          </a:prstGeom>
          <a:ln w="0">
            <a:noFill/>
          </a:ln>
        </p:spPr>
      </p:pic>
      <p:sp>
        <p:nvSpPr>
          <p:cNvPr id="65" name="TextBox 1"/>
          <p:cNvSpPr/>
          <p:nvPr/>
        </p:nvSpPr>
        <p:spPr>
          <a:xfrm>
            <a:off x="3573720" y="255960"/>
            <a:ext cx="29620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Unit II Objectives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Rectangle 1"/>
          <p:cNvSpPr/>
          <p:nvPr/>
        </p:nvSpPr>
        <p:spPr>
          <a:xfrm>
            <a:off x="821520" y="1225440"/>
            <a:ext cx="10560600" cy="3132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" name="TextBox 4"/>
          <p:cNvSpPr/>
          <p:nvPr/>
        </p:nvSpPr>
        <p:spPr>
          <a:xfrm>
            <a:off x="3216240" y="1600200"/>
            <a:ext cx="5412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5f5f5f"/>
                </a:solidFill>
                <a:latin typeface="Arial"/>
              </a:rPr>
              <a:t>By the end of this unit, we should be able to: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Oval 5"/>
          <p:cNvSpPr/>
          <p:nvPr/>
        </p:nvSpPr>
        <p:spPr>
          <a:xfrm>
            <a:off x="940320" y="2350080"/>
            <a:ext cx="346680" cy="346680"/>
          </a:xfrm>
          <a:prstGeom prst="ellipse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1461600" y="2331720"/>
            <a:ext cx="91432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5f5f5f"/>
                </a:solidFill>
                <a:latin typeface="Arial"/>
              </a:rPr>
              <a:t>Use vim, nano, and gedit to create and edit text files.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Oval 7"/>
          <p:cNvSpPr/>
          <p:nvPr/>
        </p:nvSpPr>
        <p:spPr>
          <a:xfrm>
            <a:off x="940320" y="2871360"/>
            <a:ext cx="346680" cy="346680"/>
          </a:xfrm>
          <a:prstGeom prst="ellipse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1461600" y="2853000"/>
            <a:ext cx="91432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5f5f5f"/>
                </a:solidFill>
                <a:latin typeface="Arial"/>
              </a:rPr>
              <a:t>View and inspect file contents using Linux shell commands.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Oval 9"/>
          <p:cNvSpPr/>
          <p:nvPr/>
        </p:nvSpPr>
        <p:spPr>
          <a:xfrm>
            <a:off x="940320" y="3392280"/>
            <a:ext cx="346680" cy="346680"/>
          </a:xfrm>
          <a:prstGeom prst="ellipse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Box 11"/>
          <p:cNvSpPr/>
          <p:nvPr/>
        </p:nvSpPr>
        <p:spPr>
          <a:xfrm>
            <a:off x="1461600" y="3374280"/>
            <a:ext cx="91432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5f5f5f"/>
                </a:solidFill>
                <a:latin typeface="Arial"/>
              </a:rPr>
              <a:t>Search for specific contents or patterns using grep and egrep.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Oval 11"/>
          <p:cNvSpPr/>
          <p:nvPr/>
        </p:nvSpPr>
        <p:spPr>
          <a:xfrm>
            <a:off x="940320" y="3913560"/>
            <a:ext cx="346680" cy="346680"/>
          </a:xfrm>
          <a:prstGeom prst="ellipse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Box 12"/>
          <p:cNvSpPr/>
          <p:nvPr/>
        </p:nvSpPr>
        <p:spPr>
          <a:xfrm>
            <a:off x="1461600" y="3895200"/>
            <a:ext cx="91432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5f5f5f"/>
                </a:solidFill>
                <a:latin typeface="Arial"/>
              </a:rPr>
              <a:t>Extract and manipulate text data using cut, paste, sed, and awk.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Oval 13"/>
          <p:cNvSpPr/>
          <p:nvPr/>
        </p:nvSpPr>
        <p:spPr>
          <a:xfrm>
            <a:off x="940320" y="4434840"/>
            <a:ext cx="346680" cy="346680"/>
          </a:xfrm>
          <a:prstGeom prst="ellipse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Box 14"/>
          <p:cNvSpPr/>
          <p:nvPr/>
        </p:nvSpPr>
        <p:spPr>
          <a:xfrm>
            <a:off x="1461600" y="4416480"/>
            <a:ext cx="91432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5f5f5f"/>
                </a:solidFill>
                <a:latin typeface="Arial"/>
              </a:rPr>
              <a:t>Combine commands using pipes (|) to build simple processing workflows.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Oval 15"/>
          <p:cNvSpPr/>
          <p:nvPr/>
        </p:nvSpPr>
        <p:spPr>
          <a:xfrm>
            <a:off x="940320" y="4956120"/>
            <a:ext cx="346680" cy="346680"/>
          </a:xfrm>
          <a:prstGeom prst="ellipse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Box 16"/>
          <p:cNvSpPr/>
          <p:nvPr/>
        </p:nvSpPr>
        <p:spPr>
          <a:xfrm>
            <a:off x="1461600" y="4937760"/>
            <a:ext cx="91432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5f5f5f"/>
                </a:solidFill>
                <a:latin typeface="Arial"/>
              </a:rPr>
              <a:t>Write command output to files using Bash redirection.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Oval 17"/>
          <p:cNvSpPr/>
          <p:nvPr/>
        </p:nvSpPr>
        <p:spPr>
          <a:xfrm>
            <a:off x="940320" y="5477400"/>
            <a:ext cx="346680" cy="346680"/>
          </a:xfrm>
          <a:prstGeom prst="ellipse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7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Box 13"/>
          <p:cNvSpPr/>
          <p:nvPr/>
        </p:nvSpPr>
        <p:spPr>
          <a:xfrm>
            <a:off x="1461600" y="5459040"/>
            <a:ext cx="91432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5f5f5f"/>
                </a:solidFill>
                <a:latin typeface="Arial"/>
              </a:rPr>
              <a:t>Apply these commands to text-based biological data such as FASTA files.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7"/>
          <p:cNvSpPr/>
          <p:nvPr/>
        </p:nvSpPr>
        <p:spPr>
          <a:xfrm>
            <a:off x="3468960" y="255960"/>
            <a:ext cx="40852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Linux Command Syntax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ectangle 2"/>
          <p:cNvSpPr/>
          <p:nvPr/>
        </p:nvSpPr>
        <p:spPr>
          <a:xfrm>
            <a:off x="821160" y="1225440"/>
            <a:ext cx="10560600" cy="3132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18"/>
          <p:cNvSpPr/>
          <p:nvPr/>
        </p:nvSpPr>
        <p:spPr>
          <a:xfrm>
            <a:off x="3247920" y="1600200"/>
            <a:ext cx="54414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5f5f5f"/>
                </a:solidFill>
                <a:latin typeface="Arial"/>
              </a:rPr>
              <a:t>A typical Linux command follows this structure: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ounded Rectangle 4"/>
          <p:cNvSpPr/>
          <p:nvPr/>
        </p:nvSpPr>
        <p:spPr>
          <a:xfrm>
            <a:off x="939960" y="2148840"/>
            <a:ext cx="9966240" cy="9136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cdc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500" spc="-1" strike="noStrike">
                <a:solidFill>
                  <a:srgbClr val="371f73"/>
                </a:solidFill>
                <a:latin typeface="Courier New"/>
              </a:rPr>
              <a:t>command   [option(s)]   [argument(s)]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19"/>
          <p:cNvSpPr/>
          <p:nvPr/>
        </p:nvSpPr>
        <p:spPr>
          <a:xfrm>
            <a:off x="1109160" y="3337560"/>
            <a:ext cx="1261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961858"/>
                </a:solidFill>
                <a:latin typeface="Arial"/>
              </a:rPr>
              <a:t>COMMAND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20"/>
          <p:cNvSpPr/>
          <p:nvPr/>
        </p:nvSpPr>
        <p:spPr>
          <a:xfrm>
            <a:off x="2506680" y="3360960"/>
            <a:ext cx="4722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5f5f5f"/>
                </a:solidFill>
                <a:latin typeface="Arial"/>
              </a:rPr>
              <a:t>The program or instruction you want Linux to execute.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21"/>
          <p:cNvSpPr/>
          <p:nvPr/>
        </p:nvSpPr>
        <p:spPr>
          <a:xfrm>
            <a:off x="10038240" y="3354480"/>
            <a:ext cx="5007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</a:rPr>
              <a:t>cat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22"/>
          <p:cNvSpPr/>
          <p:nvPr/>
        </p:nvSpPr>
        <p:spPr>
          <a:xfrm>
            <a:off x="1261440" y="3959280"/>
            <a:ext cx="9565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961858"/>
                </a:solidFill>
                <a:latin typeface="Arial"/>
              </a:rPr>
              <a:t>OPTION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23"/>
          <p:cNvSpPr/>
          <p:nvPr/>
        </p:nvSpPr>
        <p:spPr>
          <a:xfrm>
            <a:off x="2494440" y="3959280"/>
            <a:ext cx="67176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5f5f5f"/>
                </a:solidFill>
                <a:latin typeface="Arial"/>
              </a:rPr>
              <a:t>Changes or controls how the command behaves. Usually begins with − or −−.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24"/>
          <p:cNvSpPr/>
          <p:nvPr/>
        </p:nvSpPr>
        <p:spPr>
          <a:xfrm>
            <a:off x="9680760" y="3916080"/>
            <a:ext cx="1892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</a:rPr>
              <a:t>−</a:t>
            </a:r>
            <a:r>
              <a:rPr b="1" lang="en-US" sz="1400" spc="-1" strike="noStrike">
                <a:solidFill>
                  <a:srgbClr val="000000"/>
                </a:solidFill>
                <a:latin typeface="Courier New"/>
              </a:rPr>
              <a:t>n   or   −−help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25"/>
          <p:cNvSpPr/>
          <p:nvPr/>
        </p:nvSpPr>
        <p:spPr>
          <a:xfrm>
            <a:off x="1064160" y="4581000"/>
            <a:ext cx="1351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961858"/>
                </a:solidFill>
                <a:latin typeface="Arial"/>
              </a:rPr>
              <a:t>ARGUMENT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26"/>
          <p:cNvSpPr/>
          <p:nvPr/>
        </p:nvSpPr>
        <p:spPr>
          <a:xfrm>
            <a:off x="2557080" y="4572000"/>
            <a:ext cx="51948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5f5f5f"/>
                </a:solidFill>
                <a:latin typeface="Arial"/>
              </a:rPr>
              <a:t>The file, directory, text, or other input the command acts 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27"/>
          <p:cNvSpPr/>
          <p:nvPr/>
        </p:nvSpPr>
        <p:spPr>
          <a:xfrm>
            <a:off x="9776160" y="4572000"/>
            <a:ext cx="2319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</a:rPr>
              <a:t>proteins_large.fasta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28"/>
          <p:cNvSpPr/>
          <p:nvPr/>
        </p:nvSpPr>
        <p:spPr>
          <a:xfrm>
            <a:off x="1233360" y="5203080"/>
            <a:ext cx="10126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961858"/>
                </a:solidFill>
                <a:latin typeface="Arial"/>
              </a:rPr>
              <a:t>OUTPUT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29"/>
          <p:cNvSpPr/>
          <p:nvPr/>
        </p:nvSpPr>
        <p:spPr>
          <a:xfrm>
            <a:off x="2494440" y="5168160"/>
            <a:ext cx="5760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5f5f5f"/>
                </a:solidFill>
                <a:latin typeface="Arial"/>
              </a:rPr>
              <a:t>The result produced by the command; it may appear on screen or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5f5f5f"/>
                </a:solidFill>
                <a:latin typeface="Arial"/>
              </a:rPr>
              <a:t>be redirected to a file.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30"/>
          <p:cNvSpPr/>
          <p:nvPr/>
        </p:nvSpPr>
        <p:spPr>
          <a:xfrm>
            <a:off x="9874080" y="5192280"/>
            <a:ext cx="1570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Courier New"/>
              </a:rPr>
              <a:t>file contents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31"/>
          <p:cNvSpPr/>
          <p:nvPr/>
        </p:nvSpPr>
        <p:spPr>
          <a:xfrm>
            <a:off x="1282680" y="5897880"/>
            <a:ext cx="11422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5f5f5f"/>
                </a:solidFill>
                <a:latin typeface="Arial"/>
              </a:rPr>
              <a:t>Example: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32"/>
          <p:cNvSpPr/>
          <p:nvPr/>
        </p:nvSpPr>
        <p:spPr>
          <a:xfrm>
            <a:off x="3820320" y="5833800"/>
            <a:ext cx="42055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371f73"/>
                </a:solidFill>
                <a:latin typeface="Courier New"/>
              </a:rPr>
              <a:t>head -n 10 proteins_large.fasta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33"/>
          <p:cNvSpPr/>
          <p:nvPr/>
        </p:nvSpPr>
        <p:spPr>
          <a:xfrm>
            <a:off x="2828160" y="6309360"/>
            <a:ext cx="60984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Here: head = command  |  -n = option  |  10 and proteins_large.fasta = arguments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3" descr="100000010000023B000000B58627C003.png"/>
          <p:cNvPicPr/>
          <p:nvPr/>
        </p:nvPicPr>
        <p:blipFill>
          <a:blip r:embed="rId1"/>
          <a:stretch/>
        </p:blipFill>
        <p:spPr>
          <a:xfrm>
            <a:off x="9189720" y="137160"/>
            <a:ext cx="2513520" cy="795960"/>
          </a:xfrm>
          <a:prstGeom prst="rect">
            <a:avLst/>
          </a:prstGeom>
          <a:ln w="0">
            <a:noFill/>
          </a:ln>
        </p:spPr>
      </p:pic>
      <p:sp>
        <p:nvSpPr>
          <p:cNvPr id="102" name="TextBox 7"/>
          <p:cNvSpPr/>
          <p:nvPr/>
        </p:nvSpPr>
        <p:spPr>
          <a:xfrm>
            <a:off x="4552200" y="255960"/>
            <a:ext cx="7700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vim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ectangle 5"/>
          <p:cNvSpPr/>
          <p:nvPr/>
        </p:nvSpPr>
        <p:spPr>
          <a:xfrm>
            <a:off x="841320" y="1225440"/>
            <a:ext cx="10560240" cy="3096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Rectangle 6"/>
          <p:cNvSpPr/>
          <p:nvPr/>
        </p:nvSpPr>
        <p:spPr>
          <a:xfrm>
            <a:off x="10927080" y="6355080"/>
            <a:ext cx="383040" cy="38304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Box 8"/>
          <p:cNvSpPr/>
          <p:nvPr/>
        </p:nvSpPr>
        <p:spPr>
          <a:xfrm>
            <a:off x="960120" y="1783080"/>
            <a:ext cx="1010304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A powerful terminal-based text editor used to create and modify text files.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9"/>
          <p:cNvSpPr/>
          <p:nvPr/>
        </p:nvSpPr>
        <p:spPr>
          <a:xfrm>
            <a:off x="960120" y="3154680"/>
            <a:ext cx="1827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5f5f5f"/>
                </a:solidFill>
                <a:latin typeface="Arial"/>
              </a:rPr>
              <a:t>Example: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ounded Rectangle 2"/>
          <p:cNvSpPr/>
          <p:nvPr/>
        </p:nvSpPr>
        <p:spPr>
          <a:xfrm>
            <a:off x="960120" y="3429000"/>
            <a:ext cx="9920160" cy="7768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cdc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32d37"/>
                </a:solidFill>
                <a:latin typeface="Courier New"/>
              </a:rPr>
              <a:t>vim notes.txt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107"/>
          <p:cNvSpPr/>
          <p:nvPr/>
        </p:nvSpPr>
        <p:spPr>
          <a:xfrm>
            <a:off x="1171080" y="4526280"/>
            <a:ext cx="1863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961858"/>
                </a:solidFill>
                <a:latin typeface="Arial"/>
              </a:rPr>
              <a:t>Syntax breakdown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960120" y="4892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OPTION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Box 109"/>
          <p:cNvSpPr/>
          <p:nvPr/>
        </p:nvSpPr>
        <p:spPr>
          <a:xfrm>
            <a:off x="2560320" y="488304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Options: not usually needed for basic editing.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ounded Rectangle 110"/>
          <p:cNvSpPr/>
          <p:nvPr/>
        </p:nvSpPr>
        <p:spPr>
          <a:xfrm>
            <a:off x="960120" y="5459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371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ARGUMENT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Box 111"/>
          <p:cNvSpPr/>
          <p:nvPr/>
        </p:nvSpPr>
        <p:spPr>
          <a:xfrm>
            <a:off x="2560320" y="544968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Argument: the file to open or create.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1" descr="100000010000023B000000B58627C003.png"/>
          <p:cNvPicPr/>
          <p:nvPr/>
        </p:nvPicPr>
        <p:blipFill>
          <a:blip r:embed="rId1"/>
          <a:stretch/>
        </p:blipFill>
        <p:spPr>
          <a:xfrm>
            <a:off x="9189720" y="137160"/>
            <a:ext cx="2513520" cy="795960"/>
          </a:xfrm>
          <a:prstGeom prst="rect">
            <a:avLst/>
          </a:prstGeom>
          <a:ln w="0">
            <a:noFill/>
          </a:ln>
        </p:spPr>
      </p:pic>
      <p:sp>
        <p:nvSpPr>
          <p:cNvPr id="114" name="TextBox 2"/>
          <p:cNvSpPr/>
          <p:nvPr/>
        </p:nvSpPr>
        <p:spPr>
          <a:xfrm>
            <a:off x="4437720" y="255960"/>
            <a:ext cx="9986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nano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ectangle 3"/>
          <p:cNvSpPr/>
          <p:nvPr/>
        </p:nvSpPr>
        <p:spPr>
          <a:xfrm>
            <a:off x="841320" y="1225440"/>
            <a:ext cx="10560240" cy="3096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Rectangle 4"/>
          <p:cNvSpPr/>
          <p:nvPr/>
        </p:nvSpPr>
        <p:spPr>
          <a:xfrm>
            <a:off x="10927080" y="6355080"/>
            <a:ext cx="383040" cy="38304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Box 5"/>
          <p:cNvSpPr/>
          <p:nvPr/>
        </p:nvSpPr>
        <p:spPr>
          <a:xfrm>
            <a:off x="960120" y="1783080"/>
            <a:ext cx="1010304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A simple terminal-based text editor designed to be easy for beginners.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6"/>
          <p:cNvSpPr/>
          <p:nvPr/>
        </p:nvSpPr>
        <p:spPr>
          <a:xfrm>
            <a:off x="960120" y="3154680"/>
            <a:ext cx="1827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5f5f5f"/>
                </a:solidFill>
                <a:latin typeface="Arial"/>
              </a:rPr>
              <a:t>Example: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ounded Rectangle 7"/>
          <p:cNvSpPr/>
          <p:nvPr/>
        </p:nvSpPr>
        <p:spPr>
          <a:xfrm>
            <a:off x="960120" y="3429000"/>
            <a:ext cx="9920160" cy="7768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cdc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32d37"/>
                </a:solidFill>
                <a:latin typeface="Courier New"/>
              </a:rPr>
              <a:t>nano notes.txt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114"/>
          <p:cNvSpPr/>
          <p:nvPr/>
        </p:nvSpPr>
        <p:spPr>
          <a:xfrm>
            <a:off x="1171080" y="4526280"/>
            <a:ext cx="1863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961858"/>
                </a:solidFill>
                <a:latin typeface="Arial"/>
              </a:rPr>
              <a:t>Syntax breakdown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ounded Rectangle 115"/>
          <p:cNvSpPr/>
          <p:nvPr/>
        </p:nvSpPr>
        <p:spPr>
          <a:xfrm>
            <a:off x="960120" y="4892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OPTION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Box 116"/>
          <p:cNvSpPr/>
          <p:nvPr/>
        </p:nvSpPr>
        <p:spPr>
          <a:xfrm>
            <a:off x="2560320" y="488304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Option: e.g. -l enables line numbers.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ounded Rectangle 117"/>
          <p:cNvSpPr/>
          <p:nvPr/>
        </p:nvSpPr>
        <p:spPr>
          <a:xfrm>
            <a:off x="960120" y="5459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371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ARGUMENT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Box 118"/>
          <p:cNvSpPr/>
          <p:nvPr/>
        </p:nvSpPr>
        <p:spPr>
          <a:xfrm>
            <a:off x="2560320" y="544968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Argument: the file to open or create.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Picture 1" descr="100000010000023B000000B58627C003.png"/>
          <p:cNvPicPr/>
          <p:nvPr/>
        </p:nvPicPr>
        <p:blipFill>
          <a:blip r:embed="rId1"/>
          <a:stretch/>
        </p:blipFill>
        <p:spPr>
          <a:xfrm>
            <a:off x="9189720" y="137160"/>
            <a:ext cx="2513520" cy="795960"/>
          </a:xfrm>
          <a:prstGeom prst="rect">
            <a:avLst/>
          </a:prstGeom>
          <a:ln w="0">
            <a:noFill/>
          </a:ln>
        </p:spPr>
      </p:pic>
      <p:sp>
        <p:nvSpPr>
          <p:cNvPr id="126" name="TextBox 2"/>
          <p:cNvSpPr/>
          <p:nvPr/>
        </p:nvSpPr>
        <p:spPr>
          <a:xfrm>
            <a:off x="4437720" y="255960"/>
            <a:ext cx="9986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gedit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ectangle 3"/>
          <p:cNvSpPr/>
          <p:nvPr/>
        </p:nvSpPr>
        <p:spPr>
          <a:xfrm>
            <a:off x="841320" y="1225440"/>
            <a:ext cx="10560240" cy="3096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Rectangle 4"/>
          <p:cNvSpPr/>
          <p:nvPr/>
        </p:nvSpPr>
        <p:spPr>
          <a:xfrm>
            <a:off x="10927080" y="6355080"/>
            <a:ext cx="383040" cy="38304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Box 5"/>
          <p:cNvSpPr/>
          <p:nvPr/>
        </p:nvSpPr>
        <p:spPr>
          <a:xfrm>
            <a:off x="960120" y="1783080"/>
            <a:ext cx="1010304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A graphical text editor used to create and edit text files.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6"/>
          <p:cNvSpPr/>
          <p:nvPr/>
        </p:nvSpPr>
        <p:spPr>
          <a:xfrm>
            <a:off x="960120" y="3154680"/>
            <a:ext cx="1827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5f5f5f"/>
                </a:solidFill>
                <a:latin typeface="Arial"/>
              </a:rPr>
              <a:t>Example: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ounded Rectangle 7"/>
          <p:cNvSpPr/>
          <p:nvPr/>
        </p:nvSpPr>
        <p:spPr>
          <a:xfrm>
            <a:off x="960120" y="3429000"/>
            <a:ext cx="9920160" cy="7768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cdc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32d37"/>
                </a:solidFill>
                <a:latin typeface="Courier New"/>
              </a:rPr>
              <a:t>gedit notes.txt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121"/>
          <p:cNvSpPr/>
          <p:nvPr/>
        </p:nvSpPr>
        <p:spPr>
          <a:xfrm>
            <a:off x="1171080" y="4526280"/>
            <a:ext cx="1863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961858"/>
                </a:solidFill>
                <a:latin typeface="Arial"/>
              </a:rPr>
              <a:t>Syntax breakdown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ounded Rectangle 122"/>
          <p:cNvSpPr/>
          <p:nvPr/>
        </p:nvSpPr>
        <p:spPr>
          <a:xfrm>
            <a:off x="960120" y="4892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OPTION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Box 123"/>
          <p:cNvSpPr/>
          <p:nvPr/>
        </p:nvSpPr>
        <p:spPr>
          <a:xfrm>
            <a:off x="2560320" y="488304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Option: e.g. --new-window opens a new window.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Rounded Rectangle 124"/>
          <p:cNvSpPr/>
          <p:nvPr/>
        </p:nvSpPr>
        <p:spPr>
          <a:xfrm>
            <a:off x="960120" y="5459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371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ARGUMENT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Box 125"/>
          <p:cNvSpPr/>
          <p:nvPr/>
        </p:nvSpPr>
        <p:spPr>
          <a:xfrm>
            <a:off x="2560320" y="544968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Argument: the file to open or create.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1" descr="100000010000023B000000B58627C003.png"/>
          <p:cNvPicPr/>
          <p:nvPr/>
        </p:nvPicPr>
        <p:blipFill>
          <a:blip r:embed="rId1"/>
          <a:stretch/>
        </p:blipFill>
        <p:spPr>
          <a:xfrm>
            <a:off x="9189720" y="137160"/>
            <a:ext cx="2513520" cy="79596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/>
          <p:cNvSpPr/>
          <p:nvPr/>
        </p:nvSpPr>
        <p:spPr>
          <a:xfrm>
            <a:off x="4599360" y="255960"/>
            <a:ext cx="6757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cat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ectangle 3"/>
          <p:cNvSpPr/>
          <p:nvPr/>
        </p:nvSpPr>
        <p:spPr>
          <a:xfrm>
            <a:off x="841320" y="1225440"/>
            <a:ext cx="10560240" cy="3096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Rectangle 4"/>
          <p:cNvSpPr/>
          <p:nvPr/>
        </p:nvSpPr>
        <p:spPr>
          <a:xfrm>
            <a:off x="10927080" y="6355080"/>
            <a:ext cx="383040" cy="38304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Box 5"/>
          <p:cNvSpPr/>
          <p:nvPr/>
        </p:nvSpPr>
        <p:spPr>
          <a:xfrm>
            <a:off x="960120" y="1783080"/>
            <a:ext cx="1010304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A command that displays the contents of a text file in the terminal.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6"/>
          <p:cNvSpPr/>
          <p:nvPr/>
        </p:nvSpPr>
        <p:spPr>
          <a:xfrm>
            <a:off x="960120" y="3154680"/>
            <a:ext cx="1827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5f5f5f"/>
                </a:solidFill>
                <a:latin typeface="Arial"/>
              </a:rPr>
              <a:t>Example: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ounded Rectangle 7"/>
          <p:cNvSpPr/>
          <p:nvPr/>
        </p:nvSpPr>
        <p:spPr>
          <a:xfrm>
            <a:off x="960120" y="3429000"/>
            <a:ext cx="9920160" cy="7768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cdc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32d37"/>
                </a:solidFill>
                <a:latin typeface="Courier New"/>
              </a:rPr>
              <a:t>cat proteins.fasta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128"/>
          <p:cNvSpPr/>
          <p:nvPr/>
        </p:nvSpPr>
        <p:spPr>
          <a:xfrm>
            <a:off x="1171080" y="4526280"/>
            <a:ext cx="1863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961858"/>
                </a:solidFill>
                <a:latin typeface="Arial"/>
              </a:rPr>
              <a:t>Syntax breakdown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ounded Rectangle 129"/>
          <p:cNvSpPr/>
          <p:nvPr/>
        </p:nvSpPr>
        <p:spPr>
          <a:xfrm>
            <a:off x="960120" y="4892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OPTION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Box 130"/>
          <p:cNvSpPr/>
          <p:nvPr/>
        </p:nvSpPr>
        <p:spPr>
          <a:xfrm>
            <a:off x="2560320" y="488304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Option: -n numbers all output lines.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ounded Rectangle 131"/>
          <p:cNvSpPr/>
          <p:nvPr/>
        </p:nvSpPr>
        <p:spPr>
          <a:xfrm>
            <a:off x="960120" y="5459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371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ARGUMENT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Box 132"/>
          <p:cNvSpPr/>
          <p:nvPr/>
        </p:nvSpPr>
        <p:spPr>
          <a:xfrm>
            <a:off x="2560320" y="544968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Argument: the file whose contents are displayed.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Picture 1" descr="100000010000023B000000B58627C003.png"/>
          <p:cNvPicPr/>
          <p:nvPr/>
        </p:nvPicPr>
        <p:blipFill>
          <a:blip r:embed="rId1"/>
          <a:stretch/>
        </p:blipFill>
        <p:spPr>
          <a:xfrm>
            <a:off x="9189720" y="137160"/>
            <a:ext cx="2513520" cy="795960"/>
          </a:xfrm>
          <a:prstGeom prst="rect">
            <a:avLst/>
          </a:prstGeom>
          <a:ln w="0">
            <a:noFill/>
          </a:ln>
        </p:spPr>
      </p:pic>
      <p:sp>
        <p:nvSpPr>
          <p:cNvPr id="150" name="TextBox 2"/>
          <p:cNvSpPr/>
          <p:nvPr/>
        </p:nvSpPr>
        <p:spPr>
          <a:xfrm>
            <a:off x="4514040" y="255960"/>
            <a:ext cx="846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less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Rectangle 3"/>
          <p:cNvSpPr/>
          <p:nvPr/>
        </p:nvSpPr>
        <p:spPr>
          <a:xfrm>
            <a:off x="841320" y="1225440"/>
            <a:ext cx="10560240" cy="3096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Rectangle 4"/>
          <p:cNvSpPr/>
          <p:nvPr/>
        </p:nvSpPr>
        <p:spPr>
          <a:xfrm>
            <a:off x="10927080" y="6355080"/>
            <a:ext cx="383040" cy="38304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Box 5"/>
          <p:cNvSpPr/>
          <p:nvPr/>
        </p:nvSpPr>
        <p:spPr>
          <a:xfrm>
            <a:off x="960120" y="1783080"/>
            <a:ext cx="1010304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A command that lets you view a text file </a:t>
            </a:r>
            <a:r>
              <a:rPr b="1" lang="en-US" sz="2300" spc="-1" strike="noStrike">
                <a:solidFill>
                  <a:srgbClr val="5f5f5f"/>
                </a:solidFill>
                <a:latin typeface="Arial"/>
              </a:rPr>
              <a:t>one screen</a:t>
            </a: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 at a time.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6"/>
          <p:cNvSpPr/>
          <p:nvPr/>
        </p:nvSpPr>
        <p:spPr>
          <a:xfrm>
            <a:off x="960120" y="3154680"/>
            <a:ext cx="1827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5f5f5f"/>
                </a:solidFill>
                <a:latin typeface="Arial"/>
              </a:rPr>
              <a:t>Example: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Rounded Rectangle 7"/>
          <p:cNvSpPr/>
          <p:nvPr/>
        </p:nvSpPr>
        <p:spPr>
          <a:xfrm>
            <a:off x="960120" y="3429000"/>
            <a:ext cx="9920160" cy="7768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cdc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32d37"/>
                </a:solidFill>
                <a:latin typeface="Courier New"/>
              </a:rPr>
              <a:t>less proteins.fasta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135"/>
          <p:cNvSpPr/>
          <p:nvPr/>
        </p:nvSpPr>
        <p:spPr>
          <a:xfrm>
            <a:off x="1171080" y="4526280"/>
            <a:ext cx="1863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961858"/>
                </a:solidFill>
                <a:latin typeface="Arial"/>
              </a:rPr>
              <a:t>Syntax breakdown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Rounded Rectangle 136"/>
          <p:cNvSpPr/>
          <p:nvPr/>
        </p:nvSpPr>
        <p:spPr>
          <a:xfrm>
            <a:off x="960120" y="4892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OPTION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Box 137"/>
          <p:cNvSpPr/>
          <p:nvPr/>
        </p:nvSpPr>
        <p:spPr>
          <a:xfrm>
            <a:off x="2560320" y="488304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Option: -N displays line numbers.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ounded Rectangle 138"/>
          <p:cNvSpPr/>
          <p:nvPr/>
        </p:nvSpPr>
        <p:spPr>
          <a:xfrm>
            <a:off x="960120" y="5459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371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ARGUMENT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Box 139"/>
          <p:cNvSpPr/>
          <p:nvPr/>
        </p:nvSpPr>
        <p:spPr>
          <a:xfrm>
            <a:off x="2560320" y="544968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Argument: the file to view.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Picture 1" descr="100000010000023B000000B58627C003.png"/>
          <p:cNvPicPr/>
          <p:nvPr/>
        </p:nvPicPr>
        <p:blipFill>
          <a:blip r:embed="rId1"/>
          <a:stretch/>
        </p:blipFill>
        <p:spPr>
          <a:xfrm>
            <a:off x="9189720" y="137160"/>
            <a:ext cx="2513520" cy="795960"/>
          </a:xfrm>
          <a:prstGeom prst="rect">
            <a:avLst/>
          </a:prstGeom>
          <a:ln w="0">
            <a:noFill/>
          </a:ln>
        </p:spPr>
      </p:pic>
      <p:sp>
        <p:nvSpPr>
          <p:cNvPr id="162" name="TextBox 2"/>
          <p:cNvSpPr/>
          <p:nvPr/>
        </p:nvSpPr>
        <p:spPr>
          <a:xfrm>
            <a:off x="4428000" y="255960"/>
            <a:ext cx="10184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more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ectangle 3"/>
          <p:cNvSpPr/>
          <p:nvPr/>
        </p:nvSpPr>
        <p:spPr>
          <a:xfrm>
            <a:off x="841320" y="1225440"/>
            <a:ext cx="10560240" cy="3096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Rectangle 4"/>
          <p:cNvSpPr/>
          <p:nvPr/>
        </p:nvSpPr>
        <p:spPr>
          <a:xfrm>
            <a:off x="10927080" y="6355080"/>
            <a:ext cx="383040" cy="38304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Box 5"/>
          <p:cNvSpPr/>
          <p:nvPr/>
        </p:nvSpPr>
        <p:spPr>
          <a:xfrm>
            <a:off x="960120" y="1783080"/>
            <a:ext cx="1010304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A command that displays a text file </a:t>
            </a:r>
            <a:r>
              <a:rPr b="1" lang="en-US" sz="2300" spc="-1" strike="noStrike">
                <a:solidFill>
                  <a:srgbClr val="5f5f5f"/>
                </a:solidFill>
                <a:latin typeface="Arial"/>
              </a:rPr>
              <a:t>page by page</a:t>
            </a: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6"/>
          <p:cNvSpPr/>
          <p:nvPr/>
        </p:nvSpPr>
        <p:spPr>
          <a:xfrm>
            <a:off x="960120" y="3154680"/>
            <a:ext cx="1827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5f5f5f"/>
                </a:solidFill>
                <a:latin typeface="Arial"/>
              </a:rPr>
              <a:t>Example: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Rounded Rectangle 7"/>
          <p:cNvSpPr/>
          <p:nvPr/>
        </p:nvSpPr>
        <p:spPr>
          <a:xfrm>
            <a:off x="960120" y="3429000"/>
            <a:ext cx="9920160" cy="7768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cdc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32d37"/>
                </a:solidFill>
                <a:latin typeface="Courier New"/>
              </a:rPr>
              <a:t>more proteins.fasta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142"/>
          <p:cNvSpPr/>
          <p:nvPr/>
        </p:nvSpPr>
        <p:spPr>
          <a:xfrm>
            <a:off x="1171080" y="4526280"/>
            <a:ext cx="1863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961858"/>
                </a:solidFill>
                <a:latin typeface="Arial"/>
              </a:rPr>
              <a:t>Syntax breakdown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Rounded Rectangle 143"/>
          <p:cNvSpPr/>
          <p:nvPr/>
        </p:nvSpPr>
        <p:spPr>
          <a:xfrm>
            <a:off x="960120" y="4892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OPTION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Box 144"/>
          <p:cNvSpPr/>
          <p:nvPr/>
        </p:nvSpPr>
        <p:spPr>
          <a:xfrm>
            <a:off x="2560320" y="488304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Option: -d gives helpful prompts while paging.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ounded Rectangle 145"/>
          <p:cNvSpPr/>
          <p:nvPr/>
        </p:nvSpPr>
        <p:spPr>
          <a:xfrm>
            <a:off x="960120" y="5459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371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ARGUMENT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Box 146"/>
          <p:cNvSpPr/>
          <p:nvPr/>
        </p:nvSpPr>
        <p:spPr>
          <a:xfrm>
            <a:off x="2560320" y="544968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Argument: the file to view.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icture 1" descr="100000010000023B000000B58627C003.png"/>
          <p:cNvPicPr/>
          <p:nvPr/>
        </p:nvPicPr>
        <p:blipFill>
          <a:blip r:embed="rId1"/>
          <a:stretch/>
        </p:blipFill>
        <p:spPr>
          <a:xfrm>
            <a:off x="9189720" y="137160"/>
            <a:ext cx="2513520" cy="795960"/>
          </a:xfrm>
          <a:prstGeom prst="rect">
            <a:avLst/>
          </a:prstGeom>
          <a:ln w="0">
            <a:noFill/>
          </a:ln>
        </p:spPr>
      </p:pic>
      <p:sp>
        <p:nvSpPr>
          <p:cNvPr id="174" name="TextBox 2"/>
          <p:cNvSpPr/>
          <p:nvPr/>
        </p:nvSpPr>
        <p:spPr>
          <a:xfrm>
            <a:off x="4446720" y="255960"/>
            <a:ext cx="9806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head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ectangle 3"/>
          <p:cNvSpPr/>
          <p:nvPr/>
        </p:nvSpPr>
        <p:spPr>
          <a:xfrm>
            <a:off x="841320" y="1225440"/>
            <a:ext cx="10560240" cy="3096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Rectangle 4"/>
          <p:cNvSpPr/>
          <p:nvPr/>
        </p:nvSpPr>
        <p:spPr>
          <a:xfrm>
            <a:off x="10927080" y="6355080"/>
            <a:ext cx="383040" cy="38304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7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Box 5"/>
          <p:cNvSpPr/>
          <p:nvPr/>
        </p:nvSpPr>
        <p:spPr>
          <a:xfrm>
            <a:off x="960120" y="1783080"/>
            <a:ext cx="1010304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A command that displays the </a:t>
            </a:r>
            <a:r>
              <a:rPr b="1" lang="en-US" sz="2300" spc="-1" strike="noStrike">
                <a:solidFill>
                  <a:srgbClr val="5f5f5f"/>
                </a:solidFill>
                <a:latin typeface="Arial"/>
              </a:rPr>
              <a:t>beginning</a:t>
            </a: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 of a file.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6"/>
          <p:cNvSpPr/>
          <p:nvPr/>
        </p:nvSpPr>
        <p:spPr>
          <a:xfrm>
            <a:off x="960120" y="3154680"/>
            <a:ext cx="1827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5f5f5f"/>
                </a:solidFill>
                <a:latin typeface="Arial"/>
              </a:rPr>
              <a:t>Example: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ounded Rectangle 7"/>
          <p:cNvSpPr/>
          <p:nvPr/>
        </p:nvSpPr>
        <p:spPr>
          <a:xfrm>
            <a:off x="960120" y="3429000"/>
            <a:ext cx="9920160" cy="7768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cdc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32d37"/>
                </a:solidFill>
                <a:latin typeface="Courier New"/>
              </a:rPr>
              <a:t>head proteins.fasta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149"/>
          <p:cNvSpPr/>
          <p:nvPr/>
        </p:nvSpPr>
        <p:spPr>
          <a:xfrm>
            <a:off x="1171080" y="4526280"/>
            <a:ext cx="1863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961858"/>
                </a:solidFill>
                <a:latin typeface="Arial"/>
              </a:rPr>
              <a:t>Syntax breakdown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ounded Rectangle 150"/>
          <p:cNvSpPr/>
          <p:nvPr/>
        </p:nvSpPr>
        <p:spPr>
          <a:xfrm>
            <a:off x="960120" y="4892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OPTION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Box 151"/>
          <p:cNvSpPr/>
          <p:nvPr/>
        </p:nvSpPr>
        <p:spPr>
          <a:xfrm>
            <a:off x="2560320" y="488304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Option: -n 10 selects the number of lines to show.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ounded Rectangle 152"/>
          <p:cNvSpPr/>
          <p:nvPr/>
        </p:nvSpPr>
        <p:spPr>
          <a:xfrm>
            <a:off x="960120" y="5459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371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ARGUMENT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Box 153"/>
          <p:cNvSpPr/>
          <p:nvPr/>
        </p:nvSpPr>
        <p:spPr>
          <a:xfrm>
            <a:off x="2560320" y="544968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Argument: the file to read.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Picture 1" descr="100000010000023B000000B58627C003.png"/>
          <p:cNvPicPr/>
          <p:nvPr/>
        </p:nvPicPr>
        <p:blipFill>
          <a:blip r:embed="rId1"/>
          <a:stretch/>
        </p:blipFill>
        <p:spPr>
          <a:xfrm>
            <a:off x="9189720" y="137160"/>
            <a:ext cx="2513520" cy="795960"/>
          </a:xfrm>
          <a:prstGeom prst="rect">
            <a:avLst/>
          </a:prstGeom>
          <a:ln w="0">
            <a:noFill/>
          </a:ln>
        </p:spPr>
      </p:pic>
      <p:sp>
        <p:nvSpPr>
          <p:cNvPr id="186" name="TextBox 2"/>
          <p:cNvSpPr/>
          <p:nvPr/>
        </p:nvSpPr>
        <p:spPr>
          <a:xfrm>
            <a:off x="4599360" y="255960"/>
            <a:ext cx="6757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tail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Rectangle 3"/>
          <p:cNvSpPr/>
          <p:nvPr/>
        </p:nvSpPr>
        <p:spPr>
          <a:xfrm>
            <a:off x="841320" y="1225440"/>
            <a:ext cx="10560240" cy="3096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Rectangle 4"/>
          <p:cNvSpPr/>
          <p:nvPr/>
        </p:nvSpPr>
        <p:spPr>
          <a:xfrm>
            <a:off x="10927080" y="6355080"/>
            <a:ext cx="383040" cy="38304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8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Box 5"/>
          <p:cNvSpPr/>
          <p:nvPr/>
        </p:nvSpPr>
        <p:spPr>
          <a:xfrm>
            <a:off x="960120" y="1783080"/>
            <a:ext cx="1010304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A command that displays the </a:t>
            </a:r>
            <a:r>
              <a:rPr b="1" lang="en-US" sz="2300" spc="-1" strike="noStrike">
                <a:solidFill>
                  <a:srgbClr val="5f5f5f"/>
                </a:solidFill>
                <a:latin typeface="Arial"/>
              </a:rPr>
              <a:t>end</a:t>
            </a: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 of a file.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6"/>
          <p:cNvSpPr/>
          <p:nvPr/>
        </p:nvSpPr>
        <p:spPr>
          <a:xfrm>
            <a:off x="960120" y="3154680"/>
            <a:ext cx="1827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5f5f5f"/>
                </a:solidFill>
                <a:latin typeface="Arial"/>
              </a:rPr>
              <a:t>Example: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ounded Rectangle 7"/>
          <p:cNvSpPr/>
          <p:nvPr/>
        </p:nvSpPr>
        <p:spPr>
          <a:xfrm>
            <a:off x="960120" y="3429000"/>
            <a:ext cx="9920160" cy="7768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cdc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32d37"/>
                </a:solidFill>
                <a:latin typeface="Courier New"/>
              </a:rPr>
              <a:t>tail proteins.fasta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156"/>
          <p:cNvSpPr/>
          <p:nvPr/>
        </p:nvSpPr>
        <p:spPr>
          <a:xfrm>
            <a:off x="1171080" y="4526280"/>
            <a:ext cx="1863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961858"/>
                </a:solidFill>
                <a:latin typeface="Arial"/>
              </a:rPr>
              <a:t>Syntax breakdown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ounded Rectangle 157"/>
          <p:cNvSpPr/>
          <p:nvPr/>
        </p:nvSpPr>
        <p:spPr>
          <a:xfrm>
            <a:off x="960120" y="4892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OPTION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Box 158"/>
          <p:cNvSpPr/>
          <p:nvPr/>
        </p:nvSpPr>
        <p:spPr>
          <a:xfrm>
            <a:off x="2560320" y="488304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Option: -n 10 selects the number of lines to show.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ounded Rectangle 159"/>
          <p:cNvSpPr/>
          <p:nvPr/>
        </p:nvSpPr>
        <p:spPr>
          <a:xfrm>
            <a:off x="960120" y="5459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371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ARGUMENT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Box 160"/>
          <p:cNvSpPr/>
          <p:nvPr/>
        </p:nvSpPr>
        <p:spPr>
          <a:xfrm>
            <a:off x="2560320" y="544968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Argument: the file to read.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Picture 1" descr="100000010000023B000000B58627C003.png"/>
          <p:cNvPicPr/>
          <p:nvPr/>
        </p:nvPicPr>
        <p:blipFill>
          <a:blip r:embed="rId1"/>
          <a:stretch/>
        </p:blipFill>
        <p:spPr>
          <a:xfrm>
            <a:off x="9189720" y="137160"/>
            <a:ext cx="2513520" cy="795960"/>
          </a:xfrm>
          <a:prstGeom prst="rect">
            <a:avLst/>
          </a:prstGeom>
          <a:ln w="0">
            <a:noFill/>
          </a:ln>
        </p:spPr>
      </p:pic>
      <p:sp>
        <p:nvSpPr>
          <p:cNvPr id="198" name="TextBox 2"/>
          <p:cNvSpPr/>
          <p:nvPr/>
        </p:nvSpPr>
        <p:spPr>
          <a:xfrm>
            <a:off x="4533120" y="255960"/>
            <a:ext cx="8082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fold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Rectangle 3"/>
          <p:cNvSpPr/>
          <p:nvPr/>
        </p:nvSpPr>
        <p:spPr>
          <a:xfrm>
            <a:off x="841320" y="1225440"/>
            <a:ext cx="10560240" cy="3096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Rectangle 4"/>
          <p:cNvSpPr/>
          <p:nvPr/>
        </p:nvSpPr>
        <p:spPr>
          <a:xfrm>
            <a:off x="10927080" y="6355080"/>
            <a:ext cx="383040" cy="38304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9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Box 5"/>
          <p:cNvSpPr/>
          <p:nvPr/>
        </p:nvSpPr>
        <p:spPr>
          <a:xfrm>
            <a:off x="960120" y="1783080"/>
            <a:ext cx="1010304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A command that wraps long lines at a </a:t>
            </a:r>
            <a:r>
              <a:rPr b="1" lang="en-US" sz="2300" spc="-1" strike="noStrike">
                <a:solidFill>
                  <a:srgbClr val="5f5f5f"/>
                </a:solidFill>
                <a:latin typeface="Arial"/>
              </a:rPr>
              <a:t>specified width</a:t>
            </a: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 for display.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6"/>
          <p:cNvSpPr/>
          <p:nvPr/>
        </p:nvSpPr>
        <p:spPr>
          <a:xfrm>
            <a:off x="960120" y="3154680"/>
            <a:ext cx="1827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5f5f5f"/>
                </a:solidFill>
                <a:latin typeface="Arial"/>
              </a:rPr>
              <a:t>Example: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Rounded Rectangle 7"/>
          <p:cNvSpPr/>
          <p:nvPr/>
        </p:nvSpPr>
        <p:spPr>
          <a:xfrm>
            <a:off x="960120" y="3429000"/>
            <a:ext cx="9920160" cy="7768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cdc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32d37"/>
                </a:solidFill>
                <a:latin typeface="Courier New"/>
              </a:rPr>
              <a:t>fold -w 50 proteins.fasta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Box 163"/>
          <p:cNvSpPr/>
          <p:nvPr/>
        </p:nvSpPr>
        <p:spPr>
          <a:xfrm>
            <a:off x="1171080" y="4526280"/>
            <a:ext cx="1863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961858"/>
                </a:solidFill>
                <a:latin typeface="Arial"/>
              </a:rPr>
              <a:t>Syntax breakdown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Rounded Rectangle 164"/>
          <p:cNvSpPr/>
          <p:nvPr/>
        </p:nvSpPr>
        <p:spPr>
          <a:xfrm>
            <a:off x="960120" y="4892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OPTION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Box 165"/>
          <p:cNvSpPr/>
          <p:nvPr/>
        </p:nvSpPr>
        <p:spPr>
          <a:xfrm>
            <a:off x="2560320" y="488304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Option: -w 50 sets the maximum line width to 50 characters.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Rounded Rectangle 166"/>
          <p:cNvSpPr/>
          <p:nvPr/>
        </p:nvSpPr>
        <p:spPr>
          <a:xfrm>
            <a:off x="960120" y="5459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371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ARGUMENT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Box 167"/>
          <p:cNvSpPr/>
          <p:nvPr/>
        </p:nvSpPr>
        <p:spPr>
          <a:xfrm>
            <a:off x="2560320" y="544968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Argument: the file whose lines are wrapped.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Picture 1" descr="100000010000023B000000B58627C003.png"/>
          <p:cNvPicPr/>
          <p:nvPr/>
        </p:nvPicPr>
        <p:blipFill>
          <a:blip r:embed="rId1"/>
          <a:stretch/>
        </p:blipFill>
        <p:spPr>
          <a:xfrm>
            <a:off x="9189720" y="137160"/>
            <a:ext cx="2513520" cy="795960"/>
          </a:xfrm>
          <a:prstGeom prst="rect">
            <a:avLst/>
          </a:prstGeom>
          <a:ln w="0">
            <a:noFill/>
          </a:ln>
        </p:spPr>
      </p:pic>
      <p:sp>
        <p:nvSpPr>
          <p:cNvPr id="210" name="TextBox 2"/>
          <p:cNvSpPr/>
          <p:nvPr/>
        </p:nvSpPr>
        <p:spPr>
          <a:xfrm>
            <a:off x="4475880" y="255960"/>
            <a:ext cx="9226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grep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ectangle 3"/>
          <p:cNvSpPr/>
          <p:nvPr/>
        </p:nvSpPr>
        <p:spPr>
          <a:xfrm>
            <a:off x="841320" y="1225440"/>
            <a:ext cx="10560240" cy="3096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Rectangle 4"/>
          <p:cNvSpPr/>
          <p:nvPr/>
        </p:nvSpPr>
        <p:spPr>
          <a:xfrm>
            <a:off x="10927080" y="6355080"/>
            <a:ext cx="383040" cy="38304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10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Box 5"/>
          <p:cNvSpPr/>
          <p:nvPr/>
        </p:nvSpPr>
        <p:spPr>
          <a:xfrm>
            <a:off x="960120" y="1783080"/>
            <a:ext cx="1010304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A command that searches for a pattern and displays the matching lines.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6"/>
          <p:cNvSpPr/>
          <p:nvPr/>
        </p:nvSpPr>
        <p:spPr>
          <a:xfrm>
            <a:off x="960120" y="3154680"/>
            <a:ext cx="1827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5f5f5f"/>
                </a:solidFill>
                <a:latin typeface="Arial"/>
              </a:rPr>
              <a:t>Example: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Rounded Rectangle 7"/>
          <p:cNvSpPr/>
          <p:nvPr/>
        </p:nvSpPr>
        <p:spPr>
          <a:xfrm>
            <a:off x="960120" y="3429000"/>
            <a:ext cx="9920160" cy="7768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cdc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32d37"/>
                </a:solidFill>
                <a:latin typeface="Courier New"/>
              </a:rPr>
              <a:t>grep "KINASE" proteins.fasta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170"/>
          <p:cNvSpPr/>
          <p:nvPr/>
        </p:nvSpPr>
        <p:spPr>
          <a:xfrm>
            <a:off x="1171080" y="4526280"/>
            <a:ext cx="1863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961858"/>
                </a:solidFill>
                <a:latin typeface="Arial"/>
              </a:rPr>
              <a:t>Syntax breakdown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Rounded Rectangle 171"/>
          <p:cNvSpPr/>
          <p:nvPr/>
        </p:nvSpPr>
        <p:spPr>
          <a:xfrm>
            <a:off x="960120" y="4892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OPTION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Box 172"/>
          <p:cNvSpPr/>
          <p:nvPr/>
        </p:nvSpPr>
        <p:spPr>
          <a:xfrm>
            <a:off x="2560320" y="488304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Options: -i ignores case; -n shows line numbers.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Rounded Rectangle 173"/>
          <p:cNvSpPr/>
          <p:nvPr/>
        </p:nvSpPr>
        <p:spPr>
          <a:xfrm>
            <a:off x="960120" y="5459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371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ARGUMENT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Box 174"/>
          <p:cNvSpPr/>
          <p:nvPr/>
        </p:nvSpPr>
        <p:spPr>
          <a:xfrm>
            <a:off x="2560320" y="544968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Arguments: the search pattern and the file to search.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Picture 1" descr="100000010000023B000000B58627C003.png"/>
          <p:cNvPicPr/>
          <p:nvPr/>
        </p:nvPicPr>
        <p:blipFill>
          <a:blip r:embed="rId1"/>
          <a:stretch/>
        </p:blipFill>
        <p:spPr>
          <a:xfrm>
            <a:off x="9189720" y="137160"/>
            <a:ext cx="2513520" cy="795960"/>
          </a:xfrm>
          <a:prstGeom prst="rect">
            <a:avLst/>
          </a:prstGeom>
          <a:ln w="0">
            <a:noFill/>
          </a:ln>
        </p:spPr>
      </p:pic>
      <p:sp>
        <p:nvSpPr>
          <p:cNvPr id="222" name="TextBox 2"/>
          <p:cNvSpPr/>
          <p:nvPr/>
        </p:nvSpPr>
        <p:spPr>
          <a:xfrm>
            <a:off x="4380480" y="255960"/>
            <a:ext cx="11131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egrep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ectangle 3"/>
          <p:cNvSpPr/>
          <p:nvPr/>
        </p:nvSpPr>
        <p:spPr>
          <a:xfrm>
            <a:off x="841320" y="1225440"/>
            <a:ext cx="10560240" cy="3096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" name="Rectangle 4"/>
          <p:cNvSpPr/>
          <p:nvPr/>
        </p:nvSpPr>
        <p:spPr>
          <a:xfrm>
            <a:off x="10927080" y="6355080"/>
            <a:ext cx="383040" cy="38304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11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Box 5"/>
          <p:cNvSpPr/>
          <p:nvPr/>
        </p:nvSpPr>
        <p:spPr>
          <a:xfrm>
            <a:off x="960120" y="1783080"/>
            <a:ext cx="1010304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A command that searches for patterns using extended regular expressions.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6"/>
          <p:cNvSpPr/>
          <p:nvPr/>
        </p:nvSpPr>
        <p:spPr>
          <a:xfrm>
            <a:off x="960120" y="3154680"/>
            <a:ext cx="1827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5f5f5f"/>
                </a:solidFill>
                <a:latin typeface="Arial"/>
              </a:rPr>
              <a:t>Example: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Rounded Rectangle 7"/>
          <p:cNvSpPr/>
          <p:nvPr/>
        </p:nvSpPr>
        <p:spPr>
          <a:xfrm>
            <a:off x="960120" y="3429000"/>
            <a:ext cx="9920160" cy="7768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cdc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32d37"/>
                </a:solidFill>
                <a:latin typeface="Courier New"/>
              </a:rPr>
              <a:t>egrep "KINASE|ENZYME" proteins.fasta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177"/>
          <p:cNvSpPr/>
          <p:nvPr/>
        </p:nvSpPr>
        <p:spPr>
          <a:xfrm>
            <a:off x="1171080" y="4526280"/>
            <a:ext cx="1863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961858"/>
                </a:solidFill>
                <a:latin typeface="Arial"/>
              </a:rPr>
              <a:t>Syntax breakdown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Rounded Rectangle 178"/>
          <p:cNvSpPr/>
          <p:nvPr/>
        </p:nvSpPr>
        <p:spPr>
          <a:xfrm>
            <a:off x="960120" y="4892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OPTION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Box 179"/>
          <p:cNvSpPr/>
          <p:nvPr/>
        </p:nvSpPr>
        <p:spPr>
          <a:xfrm>
            <a:off x="2560320" y="488304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Option: extended patterns allow expressions such as | for OR.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Rounded Rectangle 180"/>
          <p:cNvSpPr/>
          <p:nvPr/>
        </p:nvSpPr>
        <p:spPr>
          <a:xfrm>
            <a:off x="960120" y="5459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371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ARGUMENT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Box 181"/>
          <p:cNvSpPr/>
          <p:nvPr/>
        </p:nvSpPr>
        <p:spPr>
          <a:xfrm>
            <a:off x="2560320" y="544968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Arguments: the pattern and the file(s) to search.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Picture 1" descr="100000010000023B000000B58627C003.png"/>
          <p:cNvPicPr/>
          <p:nvPr/>
        </p:nvPicPr>
        <p:blipFill>
          <a:blip r:embed="rId1"/>
          <a:stretch/>
        </p:blipFill>
        <p:spPr>
          <a:xfrm>
            <a:off x="9189720" y="137160"/>
            <a:ext cx="2513520" cy="795960"/>
          </a:xfrm>
          <a:prstGeom prst="rect">
            <a:avLst/>
          </a:prstGeom>
          <a:ln w="0">
            <a:noFill/>
          </a:ln>
        </p:spPr>
      </p:pic>
      <p:sp>
        <p:nvSpPr>
          <p:cNvPr id="234" name="TextBox 2"/>
          <p:cNvSpPr/>
          <p:nvPr/>
        </p:nvSpPr>
        <p:spPr>
          <a:xfrm>
            <a:off x="4590000" y="255960"/>
            <a:ext cx="6940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cut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Rectangle 3"/>
          <p:cNvSpPr/>
          <p:nvPr/>
        </p:nvSpPr>
        <p:spPr>
          <a:xfrm>
            <a:off x="841320" y="1225440"/>
            <a:ext cx="10560240" cy="3096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Rectangle 4"/>
          <p:cNvSpPr/>
          <p:nvPr/>
        </p:nvSpPr>
        <p:spPr>
          <a:xfrm>
            <a:off x="10927080" y="6355080"/>
            <a:ext cx="383040" cy="38304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12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Box 5"/>
          <p:cNvSpPr/>
          <p:nvPr/>
        </p:nvSpPr>
        <p:spPr>
          <a:xfrm>
            <a:off x="960120" y="1783080"/>
            <a:ext cx="1010304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A command that extracts selected fields or parts of lines.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6"/>
          <p:cNvSpPr/>
          <p:nvPr/>
        </p:nvSpPr>
        <p:spPr>
          <a:xfrm>
            <a:off x="960120" y="3154680"/>
            <a:ext cx="1827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5f5f5f"/>
                </a:solidFill>
                <a:latin typeface="Arial"/>
              </a:rPr>
              <a:t>Example: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Rounded Rectangle 7"/>
          <p:cNvSpPr/>
          <p:nvPr/>
        </p:nvSpPr>
        <p:spPr>
          <a:xfrm>
            <a:off x="960120" y="3429000"/>
            <a:ext cx="9920160" cy="7768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cdc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32d37"/>
                </a:solidFill>
                <a:latin typeface="Courier New"/>
              </a:rPr>
              <a:t>cut -d'|' -f2 protein_headers.txt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Box 184"/>
          <p:cNvSpPr/>
          <p:nvPr/>
        </p:nvSpPr>
        <p:spPr>
          <a:xfrm>
            <a:off x="1171080" y="4526280"/>
            <a:ext cx="1863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961858"/>
                </a:solidFill>
                <a:latin typeface="Arial"/>
              </a:rPr>
              <a:t>Syntax breakdown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Rounded Rectangle 185"/>
          <p:cNvSpPr/>
          <p:nvPr/>
        </p:nvSpPr>
        <p:spPr>
          <a:xfrm>
            <a:off x="960120" y="4892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OPTION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Box 186"/>
          <p:cNvSpPr/>
          <p:nvPr/>
        </p:nvSpPr>
        <p:spPr>
          <a:xfrm>
            <a:off x="2560320" y="488304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Options: -d sets the delimiter; -f selects field(s).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ounded Rectangle 187"/>
          <p:cNvSpPr/>
          <p:nvPr/>
        </p:nvSpPr>
        <p:spPr>
          <a:xfrm>
            <a:off x="960120" y="5459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371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ARGUMENT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Box 188"/>
          <p:cNvSpPr/>
          <p:nvPr/>
        </p:nvSpPr>
        <p:spPr>
          <a:xfrm>
            <a:off x="2560320" y="544968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Argument: the file containing the fields to extract.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Picture 1" descr="100000010000023B000000B58627C003.png"/>
          <p:cNvPicPr/>
          <p:nvPr/>
        </p:nvPicPr>
        <p:blipFill>
          <a:blip r:embed="rId1"/>
          <a:stretch/>
        </p:blipFill>
        <p:spPr>
          <a:xfrm>
            <a:off x="9189720" y="137160"/>
            <a:ext cx="2513520" cy="795960"/>
          </a:xfrm>
          <a:prstGeom prst="rect">
            <a:avLst/>
          </a:prstGeom>
          <a:ln w="0">
            <a:noFill/>
          </a:ln>
        </p:spPr>
      </p:pic>
      <p:sp>
        <p:nvSpPr>
          <p:cNvPr id="246" name="TextBox 2"/>
          <p:cNvSpPr/>
          <p:nvPr/>
        </p:nvSpPr>
        <p:spPr>
          <a:xfrm>
            <a:off x="4399560" y="255960"/>
            <a:ext cx="10749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paste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Rectangle 3"/>
          <p:cNvSpPr/>
          <p:nvPr/>
        </p:nvSpPr>
        <p:spPr>
          <a:xfrm>
            <a:off x="841320" y="1225440"/>
            <a:ext cx="10560240" cy="3096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Rectangle 4"/>
          <p:cNvSpPr/>
          <p:nvPr/>
        </p:nvSpPr>
        <p:spPr>
          <a:xfrm>
            <a:off x="10927080" y="6355080"/>
            <a:ext cx="383040" cy="38304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13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Box 5"/>
          <p:cNvSpPr/>
          <p:nvPr/>
        </p:nvSpPr>
        <p:spPr>
          <a:xfrm>
            <a:off x="960120" y="1783080"/>
            <a:ext cx="1010304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A command that joins lines from two or more files side by side.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6"/>
          <p:cNvSpPr/>
          <p:nvPr/>
        </p:nvSpPr>
        <p:spPr>
          <a:xfrm>
            <a:off x="960120" y="3154680"/>
            <a:ext cx="1827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5f5f5f"/>
                </a:solidFill>
                <a:latin typeface="Arial"/>
              </a:rPr>
              <a:t>Example: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Rounded Rectangle 7"/>
          <p:cNvSpPr/>
          <p:nvPr/>
        </p:nvSpPr>
        <p:spPr>
          <a:xfrm>
            <a:off x="960120" y="3429000"/>
            <a:ext cx="9920160" cy="7768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cdc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32d37"/>
                </a:solidFill>
                <a:latin typeface="Courier New"/>
              </a:rPr>
              <a:t>paste file1.txt file2.txt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191"/>
          <p:cNvSpPr/>
          <p:nvPr/>
        </p:nvSpPr>
        <p:spPr>
          <a:xfrm>
            <a:off x="1171080" y="4526280"/>
            <a:ext cx="1863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961858"/>
                </a:solidFill>
                <a:latin typeface="Arial"/>
              </a:rPr>
              <a:t>Syntax breakdown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Rounded Rectangle 192"/>
          <p:cNvSpPr/>
          <p:nvPr/>
        </p:nvSpPr>
        <p:spPr>
          <a:xfrm>
            <a:off x="960120" y="4892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OPTION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Box 193"/>
          <p:cNvSpPr/>
          <p:nvPr/>
        </p:nvSpPr>
        <p:spPr>
          <a:xfrm>
            <a:off x="2560320" y="488304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Option: -d sets the delimiter used between columns.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Rounded Rectangle 194"/>
          <p:cNvSpPr/>
          <p:nvPr/>
        </p:nvSpPr>
        <p:spPr>
          <a:xfrm>
            <a:off x="960120" y="5459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371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ARGUMENT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Box 195"/>
          <p:cNvSpPr/>
          <p:nvPr/>
        </p:nvSpPr>
        <p:spPr>
          <a:xfrm>
            <a:off x="2560320" y="544968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Arguments: the files whose lines are joined.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Picture 1" descr="100000010000023B000000B58627C003.png"/>
          <p:cNvPicPr/>
          <p:nvPr/>
        </p:nvPicPr>
        <p:blipFill>
          <a:blip r:embed="rId1"/>
          <a:stretch/>
        </p:blipFill>
        <p:spPr>
          <a:xfrm>
            <a:off x="9189720" y="137160"/>
            <a:ext cx="2513520" cy="795960"/>
          </a:xfrm>
          <a:prstGeom prst="rect">
            <a:avLst/>
          </a:prstGeom>
          <a:ln w="0">
            <a:noFill/>
          </a:ln>
        </p:spPr>
      </p:pic>
      <p:sp>
        <p:nvSpPr>
          <p:cNvPr id="258" name="TextBox 2"/>
          <p:cNvSpPr/>
          <p:nvPr/>
        </p:nvSpPr>
        <p:spPr>
          <a:xfrm>
            <a:off x="4552200" y="255960"/>
            <a:ext cx="7700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sed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Rectangle 3"/>
          <p:cNvSpPr/>
          <p:nvPr/>
        </p:nvSpPr>
        <p:spPr>
          <a:xfrm>
            <a:off x="841320" y="1225440"/>
            <a:ext cx="10560240" cy="3096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0" name="Rectangle 4"/>
          <p:cNvSpPr/>
          <p:nvPr/>
        </p:nvSpPr>
        <p:spPr>
          <a:xfrm>
            <a:off x="10927080" y="6355080"/>
            <a:ext cx="383040" cy="38304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14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Box 5"/>
          <p:cNvSpPr/>
          <p:nvPr/>
        </p:nvSpPr>
        <p:spPr>
          <a:xfrm>
            <a:off x="960120" y="1783080"/>
            <a:ext cx="1010304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A stream editor used to search and transform text.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Box 6"/>
          <p:cNvSpPr/>
          <p:nvPr/>
        </p:nvSpPr>
        <p:spPr>
          <a:xfrm>
            <a:off x="960120" y="3154680"/>
            <a:ext cx="1827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5f5f5f"/>
                </a:solidFill>
                <a:latin typeface="Arial"/>
              </a:rPr>
              <a:t>Example: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Rounded Rectangle 7"/>
          <p:cNvSpPr/>
          <p:nvPr/>
        </p:nvSpPr>
        <p:spPr>
          <a:xfrm>
            <a:off x="960120" y="3429000"/>
            <a:ext cx="9920160" cy="7768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cdc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32d37"/>
                </a:solidFill>
                <a:latin typeface="Courier New"/>
              </a:rPr>
              <a:t>sed 's/KINASE/PROTEIN_KINASE/g' proteins.fasta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Box 198"/>
          <p:cNvSpPr/>
          <p:nvPr/>
        </p:nvSpPr>
        <p:spPr>
          <a:xfrm>
            <a:off x="1171080" y="4526280"/>
            <a:ext cx="1863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961858"/>
                </a:solidFill>
                <a:latin typeface="Arial"/>
              </a:rPr>
              <a:t>Syntax breakdown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Rounded Rectangle 199"/>
          <p:cNvSpPr/>
          <p:nvPr/>
        </p:nvSpPr>
        <p:spPr>
          <a:xfrm>
            <a:off x="960120" y="4892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OPTION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Box 200"/>
          <p:cNvSpPr/>
          <p:nvPr/>
        </p:nvSpPr>
        <p:spPr>
          <a:xfrm>
            <a:off x="2560320" y="488304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Expression: s/old/new/g specifies the substitution; g applies it globally.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Rounded Rectangle 201"/>
          <p:cNvSpPr/>
          <p:nvPr/>
        </p:nvSpPr>
        <p:spPr>
          <a:xfrm>
            <a:off x="960120" y="5459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371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ARGUMENT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Box 202"/>
          <p:cNvSpPr/>
          <p:nvPr/>
        </p:nvSpPr>
        <p:spPr>
          <a:xfrm>
            <a:off x="2560320" y="544968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Argument: the input file to process.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Picture 1" descr="100000010000023B000000B58627C003.png"/>
          <p:cNvPicPr/>
          <p:nvPr/>
        </p:nvPicPr>
        <p:blipFill>
          <a:blip r:embed="rId1"/>
          <a:stretch/>
        </p:blipFill>
        <p:spPr>
          <a:xfrm>
            <a:off x="9189720" y="137160"/>
            <a:ext cx="2513520" cy="795960"/>
          </a:xfrm>
          <a:prstGeom prst="rect">
            <a:avLst/>
          </a:prstGeom>
          <a:ln w="0">
            <a:noFill/>
          </a:ln>
        </p:spPr>
      </p:pic>
      <p:sp>
        <p:nvSpPr>
          <p:cNvPr id="270" name="TextBox 2"/>
          <p:cNvSpPr/>
          <p:nvPr/>
        </p:nvSpPr>
        <p:spPr>
          <a:xfrm>
            <a:off x="4523040" y="255960"/>
            <a:ext cx="8280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awk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Rectangle 3"/>
          <p:cNvSpPr/>
          <p:nvPr/>
        </p:nvSpPr>
        <p:spPr>
          <a:xfrm>
            <a:off x="841320" y="1225440"/>
            <a:ext cx="10560240" cy="3096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2" name="Rectangle 4"/>
          <p:cNvSpPr/>
          <p:nvPr/>
        </p:nvSpPr>
        <p:spPr>
          <a:xfrm>
            <a:off x="10927080" y="6355080"/>
            <a:ext cx="383040" cy="38304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15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Box 5"/>
          <p:cNvSpPr/>
          <p:nvPr/>
        </p:nvSpPr>
        <p:spPr>
          <a:xfrm>
            <a:off x="960120" y="1783080"/>
            <a:ext cx="1010304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A text-processing tool used to select fields and perform simple calculations.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Box 6"/>
          <p:cNvSpPr/>
          <p:nvPr/>
        </p:nvSpPr>
        <p:spPr>
          <a:xfrm>
            <a:off x="960120" y="3154680"/>
            <a:ext cx="1827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5f5f5f"/>
                </a:solidFill>
                <a:latin typeface="Arial"/>
              </a:rPr>
              <a:t>Example: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Rounded Rectangle 7"/>
          <p:cNvSpPr/>
          <p:nvPr/>
        </p:nvSpPr>
        <p:spPr>
          <a:xfrm>
            <a:off x="960120" y="3429000"/>
            <a:ext cx="9920160" cy="7768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cdc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32d37"/>
                </a:solidFill>
                <a:latin typeface="Courier New"/>
              </a:rPr>
              <a:t>awk '/^&gt;/{print $0}' proteins.fasta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Box 205"/>
          <p:cNvSpPr/>
          <p:nvPr/>
        </p:nvSpPr>
        <p:spPr>
          <a:xfrm>
            <a:off x="1171080" y="4526280"/>
            <a:ext cx="1863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961858"/>
                </a:solidFill>
                <a:latin typeface="Arial"/>
              </a:rPr>
              <a:t>Syntax breakdown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Rounded Rectangle 206"/>
          <p:cNvSpPr/>
          <p:nvPr/>
        </p:nvSpPr>
        <p:spPr>
          <a:xfrm>
            <a:off x="960120" y="4892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OPTION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Box 207"/>
          <p:cNvSpPr/>
          <p:nvPr/>
        </p:nvSpPr>
        <p:spPr>
          <a:xfrm>
            <a:off x="2560320" y="488304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Program: 'pattern { action }' defines what to select/do.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Rounded Rectangle 208"/>
          <p:cNvSpPr/>
          <p:nvPr/>
        </p:nvSpPr>
        <p:spPr>
          <a:xfrm>
            <a:off x="960120" y="5459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371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ARGUMENT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Box 209"/>
          <p:cNvSpPr/>
          <p:nvPr/>
        </p:nvSpPr>
        <p:spPr>
          <a:xfrm>
            <a:off x="2560320" y="544968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Argument: the input file to process.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Picture 1" descr="100000010000023B000000B58627C003.png"/>
          <p:cNvPicPr/>
          <p:nvPr/>
        </p:nvPicPr>
        <p:blipFill>
          <a:blip r:embed="rId1"/>
          <a:stretch/>
        </p:blipFill>
        <p:spPr>
          <a:xfrm>
            <a:off x="9189720" y="137160"/>
            <a:ext cx="2513520" cy="795960"/>
          </a:xfrm>
          <a:prstGeom prst="rect">
            <a:avLst/>
          </a:prstGeom>
          <a:ln w="0">
            <a:noFill/>
          </a:ln>
        </p:spPr>
      </p:pic>
      <p:sp>
        <p:nvSpPr>
          <p:cNvPr id="282" name="TextBox 2"/>
          <p:cNvSpPr/>
          <p:nvPr/>
        </p:nvSpPr>
        <p:spPr>
          <a:xfrm>
            <a:off x="4799880" y="255960"/>
            <a:ext cx="2746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|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Rectangle 3"/>
          <p:cNvSpPr/>
          <p:nvPr/>
        </p:nvSpPr>
        <p:spPr>
          <a:xfrm>
            <a:off x="841320" y="1225440"/>
            <a:ext cx="10560240" cy="3096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4" name="Rectangle 4"/>
          <p:cNvSpPr/>
          <p:nvPr/>
        </p:nvSpPr>
        <p:spPr>
          <a:xfrm>
            <a:off x="10927080" y="6355080"/>
            <a:ext cx="383040" cy="38304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16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Box 5"/>
          <p:cNvSpPr/>
          <p:nvPr/>
        </p:nvSpPr>
        <p:spPr>
          <a:xfrm>
            <a:off x="960120" y="1783080"/>
            <a:ext cx="10103040" cy="73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A shell operator that sends the output of one command directly into another command.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Box 6"/>
          <p:cNvSpPr/>
          <p:nvPr/>
        </p:nvSpPr>
        <p:spPr>
          <a:xfrm>
            <a:off x="960120" y="3154680"/>
            <a:ext cx="1827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5f5f5f"/>
                </a:solidFill>
                <a:latin typeface="Arial"/>
              </a:rPr>
              <a:t>Example: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Rounded Rectangle 7"/>
          <p:cNvSpPr/>
          <p:nvPr/>
        </p:nvSpPr>
        <p:spPr>
          <a:xfrm>
            <a:off x="960120" y="3429000"/>
            <a:ext cx="9920160" cy="7768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cdc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32d37"/>
                </a:solidFill>
                <a:latin typeface="Courier New"/>
              </a:rPr>
              <a:t>grep "^&gt;" proteins.fasta | wc -l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Box 212"/>
          <p:cNvSpPr/>
          <p:nvPr/>
        </p:nvSpPr>
        <p:spPr>
          <a:xfrm>
            <a:off x="1171080" y="4526280"/>
            <a:ext cx="1863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961858"/>
                </a:solidFill>
                <a:latin typeface="Arial"/>
              </a:rPr>
              <a:t>Syntax breakdown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Rounded Rectangle 213"/>
          <p:cNvSpPr/>
          <p:nvPr/>
        </p:nvSpPr>
        <p:spPr>
          <a:xfrm>
            <a:off x="960120" y="4892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OPTION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Box 214"/>
          <p:cNvSpPr/>
          <p:nvPr/>
        </p:nvSpPr>
        <p:spPr>
          <a:xfrm>
            <a:off x="2560320" y="488304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No command option: | is a shell operator.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Rounded Rectangle 215"/>
          <p:cNvSpPr/>
          <p:nvPr/>
        </p:nvSpPr>
        <p:spPr>
          <a:xfrm>
            <a:off x="960120" y="5459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371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ARGUMENT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Box 216"/>
          <p:cNvSpPr/>
          <p:nvPr/>
        </p:nvSpPr>
        <p:spPr>
          <a:xfrm>
            <a:off x="2560320" y="544968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Arguments: the output of the first command becomes input to the next.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Picture 1" descr="100000010000023B000000B58627C003.png"/>
          <p:cNvPicPr/>
          <p:nvPr/>
        </p:nvPicPr>
        <p:blipFill>
          <a:blip r:embed="rId1"/>
          <a:stretch/>
        </p:blipFill>
        <p:spPr>
          <a:xfrm>
            <a:off x="9189720" y="137160"/>
            <a:ext cx="2513520" cy="795960"/>
          </a:xfrm>
          <a:prstGeom prst="rect">
            <a:avLst/>
          </a:prstGeom>
          <a:ln w="0">
            <a:noFill/>
          </a:ln>
        </p:spPr>
      </p:pic>
      <p:sp>
        <p:nvSpPr>
          <p:cNvPr id="294" name="TextBox 2"/>
          <p:cNvSpPr/>
          <p:nvPr/>
        </p:nvSpPr>
        <p:spPr>
          <a:xfrm>
            <a:off x="4746960" y="255960"/>
            <a:ext cx="380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&gt;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Rectangle 3"/>
          <p:cNvSpPr/>
          <p:nvPr/>
        </p:nvSpPr>
        <p:spPr>
          <a:xfrm>
            <a:off x="841320" y="1225440"/>
            <a:ext cx="10560240" cy="3096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6" name="Rectangle 4"/>
          <p:cNvSpPr/>
          <p:nvPr/>
        </p:nvSpPr>
        <p:spPr>
          <a:xfrm>
            <a:off x="10927080" y="6355080"/>
            <a:ext cx="383040" cy="38304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17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Box 5"/>
          <p:cNvSpPr/>
          <p:nvPr/>
        </p:nvSpPr>
        <p:spPr>
          <a:xfrm>
            <a:off x="960120" y="1783080"/>
            <a:ext cx="10103040" cy="73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A redirection operator that writes command output to a file, replacing existing contents.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Box 6"/>
          <p:cNvSpPr/>
          <p:nvPr/>
        </p:nvSpPr>
        <p:spPr>
          <a:xfrm>
            <a:off x="960120" y="3154680"/>
            <a:ext cx="1827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5f5f5f"/>
                </a:solidFill>
                <a:latin typeface="Arial"/>
              </a:rPr>
              <a:t>Example: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Rounded Rectangle 7"/>
          <p:cNvSpPr/>
          <p:nvPr/>
        </p:nvSpPr>
        <p:spPr>
          <a:xfrm>
            <a:off x="960120" y="3429000"/>
            <a:ext cx="9920160" cy="7768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cdc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32d37"/>
                </a:solidFill>
                <a:latin typeface="Courier New"/>
              </a:rPr>
              <a:t>grep "^&gt;" proteins.fasta &gt; protein_headers.txt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Box 219"/>
          <p:cNvSpPr/>
          <p:nvPr/>
        </p:nvSpPr>
        <p:spPr>
          <a:xfrm>
            <a:off x="1171080" y="4526280"/>
            <a:ext cx="1863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961858"/>
                </a:solidFill>
                <a:latin typeface="Arial"/>
              </a:rPr>
              <a:t>Syntax breakdown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Rounded Rectangle 220"/>
          <p:cNvSpPr/>
          <p:nvPr/>
        </p:nvSpPr>
        <p:spPr>
          <a:xfrm>
            <a:off x="960120" y="4892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OPTION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Box 221"/>
          <p:cNvSpPr/>
          <p:nvPr/>
        </p:nvSpPr>
        <p:spPr>
          <a:xfrm>
            <a:off x="2560320" y="488304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No command option: &gt; is a redirection operator.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Rounded Rectangle 222"/>
          <p:cNvSpPr/>
          <p:nvPr/>
        </p:nvSpPr>
        <p:spPr>
          <a:xfrm>
            <a:off x="960120" y="5459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371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ARGUMENT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Box 223"/>
          <p:cNvSpPr/>
          <p:nvPr/>
        </p:nvSpPr>
        <p:spPr>
          <a:xfrm>
            <a:off x="2560320" y="544968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Argument: the destination filename receives the command output.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Picture 1" descr="100000010000023B000000B58627C003.png"/>
          <p:cNvPicPr/>
          <p:nvPr/>
        </p:nvPicPr>
        <p:blipFill>
          <a:blip r:embed="rId1"/>
          <a:stretch/>
        </p:blipFill>
        <p:spPr>
          <a:xfrm>
            <a:off x="9189720" y="137160"/>
            <a:ext cx="2513520" cy="795960"/>
          </a:xfrm>
          <a:prstGeom prst="rect">
            <a:avLst/>
          </a:prstGeom>
          <a:ln w="0">
            <a:noFill/>
          </a:ln>
        </p:spPr>
      </p:pic>
      <p:sp>
        <p:nvSpPr>
          <p:cNvPr id="306" name="TextBox 2"/>
          <p:cNvSpPr/>
          <p:nvPr/>
        </p:nvSpPr>
        <p:spPr>
          <a:xfrm>
            <a:off x="4647240" y="255960"/>
            <a:ext cx="5796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&gt;&gt;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Rectangle 3"/>
          <p:cNvSpPr/>
          <p:nvPr/>
        </p:nvSpPr>
        <p:spPr>
          <a:xfrm>
            <a:off x="841320" y="1225440"/>
            <a:ext cx="10560240" cy="3096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8" name="Rectangle 4"/>
          <p:cNvSpPr/>
          <p:nvPr/>
        </p:nvSpPr>
        <p:spPr>
          <a:xfrm>
            <a:off x="10927080" y="6355080"/>
            <a:ext cx="383040" cy="38304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18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Box 5"/>
          <p:cNvSpPr/>
          <p:nvPr/>
        </p:nvSpPr>
        <p:spPr>
          <a:xfrm>
            <a:off x="960120" y="1783080"/>
            <a:ext cx="1010304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A redirection operator that appends command output to the end of a file.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Box 6"/>
          <p:cNvSpPr/>
          <p:nvPr/>
        </p:nvSpPr>
        <p:spPr>
          <a:xfrm>
            <a:off x="960120" y="3154680"/>
            <a:ext cx="1827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5f5f5f"/>
                </a:solidFill>
                <a:latin typeface="Arial"/>
              </a:rPr>
              <a:t>Example: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Rounded Rectangle 7"/>
          <p:cNvSpPr/>
          <p:nvPr/>
        </p:nvSpPr>
        <p:spPr>
          <a:xfrm>
            <a:off x="960120" y="3429000"/>
            <a:ext cx="9920160" cy="7768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cdc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32d37"/>
                </a:solidFill>
                <a:latin typeface="Courier New"/>
              </a:rPr>
              <a:t>grep "KINASE" proteins.fasta &gt;&gt; protein_headers.txt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Box 226"/>
          <p:cNvSpPr/>
          <p:nvPr/>
        </p:nvSpPr>
        <p:spPr>
          <a:xfrm>
            <a:off x="1171080" y="4526280"/>
            <a:ext cx="1863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961858"/>
                </a:solidFill>
                <a:latin typeface="Arial"/>
              </a:rPr>
              <a:t>Syntax breakdown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Rounded Rectangle 227"/>
          <p:cNvSpPr/>
          <p:nvPr/>
        </p:nvSpPr>
        <p:spPr>
          <a:xfrm>
            <a:off x="960120" y="4892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OPTION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Box 228"/>
          <p:cNvSpPr/>
          <p:nvPr/>
        </p:nvSpPr>
        <p:spPr>
          <a:xfrm>
            <a:off x="2560320" y="488304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No command option: &gt;&gt; is an append redirection operator.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Rounded Rectangle 229"/>
          <p:cNvSpPr/>
          <p:nvPr/>
        </p:nvSpPr>
        <p:spPr>
          <a:xfrm>
            <a:off x="960120" y="5459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371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ARGUMENT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Box 230"/>
          <p:cNvSpPr/>
          <p:nvPr/>
        </p:nvSpPr>
        <p:spPr>
          <a:xfrm>
            <a:off x="2560320" y="544968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Argument: the destination filename receives output at the end.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1" descr="100000010000023B000000B58627C003.png"/>
          <p:cNvPicPr/>
          <p:nvPr/>
        </p:nvPicPr>
        <p:blipFill>
          <a:blip r:embed="rId1"/>
          <a:stretch/>
        </p:blipFill>
        <p:spPr>
          <a:xfrm>
            <a:off x="9189720" y="137160"/>
            <a:ext cx="2513520" cy="795960"/>
          </a:xfrm>
          <a:prstGeom prst="rect">
            <a:avLst/>
          </a:prstGeom>
          <a:ln w="0">
            <a:noFill/>
          </a:ln>
        </p:spPr>
      </p:pic>
      <p:sp>
        <p:nvSpPr>
          <p:cNvPr id="318" name="TextBox 2"/>
          <p:cNvSpPr/>
          <p:nvPr/>
        </p:nvSpPr>
        <p:spPr>
          <a:xfrm>
            <a:off x="4428000" y="255960"/>
            <a:ext cx="10184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Bash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Rectangle 3"/>
          <p:cNvSpPr/>
          <p:nvPr/>
        </p:nvSpPr>
        <p:spPr>
          <a:xfrm>
            <a:off x="841320" y="1225440"/>
            <a:ext cx="10560240" cy="3096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0" name="Rectangle 4"/>
          <p:cNvSpPr/>
          <p:nvPr/>
        </p:nvSpPr>
        <p:spPr>
          <a:xfrm>
            <a:off x="10927080" y="6355080"/>
            <a:ext cx="383040" cy="383040"/>
          </a:xfrm>
          <a:prstGeom prst="rect">
            <a:avLst/>
          </a:prstGeom>
          <a:solidFill>
            <a:srgbClr val="9618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19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Box 5"/>
          <p:cNvSpPr/>
          <p:nvPr/>
        </p:nvSpPr>
        <p:spPr>
          <a:xfrm>
            <a:off x="960120" y="1783080"/>
            <a:ext cx="1010304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300" spc="-1" strike="noStrike">
                <a:solidFill>
                  <a:srgbClr val="5f5f5f"/>
                </a:solidFill>
                <a:latin typeface="Arial"/>
              </a:rPr>
              <a:t>A Unix/Linux shell that interprets commands and can execute shell scripts.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Box 6"/>
          <p:cNvSpPr/>
          <p:nvPr/>
        </p:nvSpPr>
        <p:spPr>
          <a:xfrm>
            <a:off x="960120" y="3154680"/>
            <a:ext cx="1827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5f5f5f"/>
                </a:solidFill>
                <a:latin typeface="Arial"/>
              </a:rPr>
              <a:t>Example: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Rounded Rectangle 7"/>
          <p:cNvSpPr/>
          <p:nvPr/>
        </p:nvSpPr>
        <p:spPr>
          <a:xfrm>
            <a:off x="960120" y="3429000"/>
            <a:ext cx="9920160" cy="7768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cdc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32d37"/>
                </a:solidFill>
                <a:latin typeface="Courier New"/>
              </a:rPr>
              <a:t>bash fasta_summary.sh proteins.fasta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Box 233"/>
          <p:cNvSpPr/>
          <p:nvPr/>
        </p:nvSpPr>
        <p:spPr>
          <a:xfrm>
            <a:off x="1171080" y="4526280"/>
            <a:ext cx="1863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961858"/>
                </a:solidFill>
                <a:latin typeface="Arial"/>
              </a:rPr>
              <a:t>Syntax breakdown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Rounded Rectangle 234"/>
          <p:cNvSpPr/>
          <p:nvPr/>
        </p:nvSpPr>
        <p:spPr>
          <a:xfrm>
            <a:off x="960120" y="4892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96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OPTION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Box 235"/>
          <p:cNvSpPr/>
          <p:nvPr/>
        </p:nvSpPr>
        <p:spPr>
          <a:xfrm>
            <a:off x="2560320" y="488304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Option: options can be passed to Bash, depending on the task.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Rounded Rectangle 236"/>
          <p:cNvSpPr/>
          <p:nvPr/>
        </p:nvSpPr>
        <p:spPr>
          <a:xfrm>
            <a:off x="960120" y="545904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371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ARGUMENT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Box 237"/>
          <p:cNvSpPr/>
          <p:nvPr/>
        </p:nvSpPr>
        <p:spPr>
          <a:xfrm>
            <a:off x="2560320" y="5449680"/>
            <a:ext cx="8137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f5f5f"/>
                </a:solidFill>
                <a:latin typeface="Arial"/>
              </a:rPr>
              <a:t>Arguments: the script filename followed by values supplied to the script.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2026-09-03T00:32:37Z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